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8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B9D0B-511C-AD83-7773-E80C7EC37503}" v="1" dt="2025-10-07T16:42:51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6"/>
  </p:normalViewPr>
  <p:slideViewPr>
    <p:cSldViewPr snapToGrid="0" snapToObjects="1">
      <p:cViewPr varScale="1">
        <p:scale>
          <a:sx n="89" d="100"/>
          <a:sy n="89" d="100"/>
        </p:scale>
        <p:origin x="536" y="1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Wang" userId="S::mwang23@kennesaw.edu::40c509f2-6e44-41ac-be95-0b697891d3eb" providerId="AD" clId="Web-{651B9D0B-511C-AD83-7773-E80C7EC37503}"/>
    <pc:docChg chg="modSld">
      <pc:chgData name="Min Wang" userId="S::mwang23@kennesaw.edu::40c509f2-6e44-41ac-be95-0b697891d3eb" providerId="AD" clId="Web-{651B9D0B-511C-AD83-7773-E80C7EC37503}" dt="2025-10-07T16:42:51.887" v="0" actId="1076"/>
      <pc:docMkLst>
        <pc:docMk/>
      </pc:docMkLst>
      <pc:sldChg chg="modSp">
        <pc:chgData name="Min Wang" userId="S::mwang23@kennesaw.edu::40c509f2-6e44-41ac-be95-0b697891d3eb" providerId="AD" clId="Web-{651B9D0B-511C-AD83-7773-E80C7EC37503}" dt="2025-10-07T16:42:51.887" v="0" actId="1076"/>
        <pc:sldMkLst>
          <pc:docMk/>
          <pc:sldMk cId="2930963309" sldId="277"/>
        </pc:sldMkLst>
        <pc:picChg chg="mod">
          <ac:chgData name="Min Wang" userId="S::mwang23@kennesaw.edu::40c509f2-6e44-41ac-be95-0b697891d3eb" providerId="AD" clId="Web-{651B9D0B-511C-AD83-7773-E80C7EC37503}" dt="2025-10-07T16:42:51.887" v="0" actId="1076"/>
          <ac:picMkLst>
            <pc:docMk/>
            <pc:sldMk cId="2930963309" sldId="277"/>
            <ac:picMk id="5" creationId="{75A8167A-E9EF-FD4A-8DD1-184367E5FD6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  <a:duotone>
              <a:schemeClr val="bg2">
                <a:shade val="40000"/>
                <a:satMod val="400000"/>
              </a:schemeClr>
              <a:schemeClr val="bg2">
                <a:tint val="10000"/>
                <a:satMod val="2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The Determinant of a Matrix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53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3998C-C31A-AD42-93B6-26C1D42C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0F2F-171B-6344-89BD-EB2816EE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Notation:             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8FAAB-34EA-AB41-ACD7-2D8592AE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002674"/>
            <a:ext cx="8009172" cy="296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89320-0A4E-9D4A-A077-63B886AF4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3444615"/>
            <a:ext cx="5532211" cy="2787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1F2620-2CAE-584B-89EA-03DFCA534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642" y="1578284"/>
            <a:ext cx="888172" cy="444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863A4D-408E-8146-87C6-19710C6FC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234" y="1578284"/>
            <a:ext cx="407307" cy="478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8C02CB-6A1D-5D4A-9C2F-9DCA173A3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75" y="2153065"/>
            <a:ext cx="7907572" cy="101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1AA8-DF06-5743-92AF-A3D1698A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F591-96EA-1A4B-A80F-8CAF9E2A8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0A021-763B-A846-966D-E4EE30F5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8141014" cy="147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08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9682-16C8-D44B-9C2C-1232949F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determinant of a matrix of order higher than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706FB-48A5-B449-B450-057A21D50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D7D43-154A-134B-A131-C3B5F9F31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32" y="1600201"/>
            <a:ext cx="8030161" cy="11021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0EEF77-65B5-CD46-9743-A8B1AD32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49" y="2702380"/>
            <a:ext cx="8030161" cy="121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97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EF69-92FE-8A43-9146-D2E5AE6D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6B179F-4F05-134F-A07D-6FE3FFB24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3429000"/>
            <a:ext cx="4371068" cy="24075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EF82F5-66D1-ED43-A7CC-A0422B984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1708150"/>
            <a:ext cx="4241287" cy="1720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D95ACA-9E2D-454D-AB7F-F0B0183F1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722" y="4632797"/>
            <a:ext cx="393700" cy="36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599413-3B44-3846-B777-2E85E7763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692" y="4632797"/>
            <a:ext cx="771676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3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1FAC-9843-674C-B1A0-E7E2844D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78C3-BCC7-6A49-92D3-D67D57937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C5C2C-1203-E44F-A898-5AC8E71F4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0"/>
            <a:ext cx="8042276" cy="24952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9208F8-722A-B048-AB3C-F6A8F68E6A4F}"/>
              </a:ext>
            </a:extLst>
          </p:cNvPr>
          <p:cNvSpPr/>
          <p:nvPr/>
        </p:nvSpPr>
        <p:spPr>
          <a:xfrm>
            <a:off x="549275" y="4280264"/>
            <a:ext cx="80422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</a:rPr>
              <a:t>The row (or column) containing the most zeros is usually the best choice for expansion by cofactors.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45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30B7-E3BC-3040-8876-20CAC1F5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EB3A5-824E-864A-8F1B-EC9EE424E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1FFE3-FB29-F14D-9663-01890DA26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5171621" cy="274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1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2CD6-A026-5A48-BE53-7EDCF5E7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C657A-A15A-6941-AA3B-974015E88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39171-D868-EC41-A542-0674A0726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4082143" cy="225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85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9487E-0B0E-3542-AE29-E75B0973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335C7-144E-2949-B4B5-12108F460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EBECA-2FA7-D641-9D57-968331DB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8030161" cy="11021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4B5B30-C4DB-BC4A-A6B0-1063BA919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3160485"/>
            <a:ext cx="3670300" cy="209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9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D1AB-C284-2F44-AF46-BA8ECCD0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DADD-A943-FB4D-8FA2-16B5A9B95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8C8A5-1A68-D54D-B4EE-28598742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976934" cy="24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9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C16E-13C5-4D46-B3B3-494C8B79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69B88-16F4-3840-9D74-EFD32DD79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014E4-9BA6-8B44-9961-6C4335240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6054690" cy="1683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026FED-BA4B-2C41-843C-DE0257FA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57" y="3428999"/>
            <a:ext cx="6569122" cy="233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5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189A-679F-2046-83FF-ABEF12F6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8165-2F3E-E94A-A795-4C484C5F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1D518F-0FA0-7B49-8605-498191092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93" y="1600201"/>
            <a:ext cx="8015058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34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BAAD-4E3A-AA45-A79C-C2084226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4B63C-5582-E448-9EBB-D5A448D89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CEB46-4C8A-FD45-97A2-56BD084C2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63" y="484416"/>
            <a:ext cx="72771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24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B36D-6BB8-6840-BEB7-34C31023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1D6BF-264D-6344-811E-9E237336C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835FE-B988-5B43-A03F-DBBD21F97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17" y="1600201"/>
            <a:ext cx="7945191" cy="1204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003200-4601-B84F-B334-78FEFF53F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2960555"/>
            <a:ext cx="4313011" cy="237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6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70B0-D633-A44E-BBEC-B09B12CE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4461-78EF-C540-8476-9C4B6D320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CAF6A-4BB6-2442-91AC-FF339C79E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537607"/>
            <a:ext cx="8059346" cy="209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76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723A-29CE-2243-A1A8-0C3B6D842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D2FA-1794-1A44-A0CD-4BBC78EFF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0FD51-6130-F14D-BE01-54E4E9D8D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694839" cy="1345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4761C7-77AA-404C-9D81-2C5FC1E17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3187938"/>
            <a:ext cx="7776971" cy="87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22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6DCEA-85DE-1045-96F7-D90CEC4E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9A5B5-7B36-B443-93EB-B459FBBAD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577" y="3052323"/>
            <a:ext cx="7349585" cy="23615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3CB78B-F961-544C-A738-1657A5451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78" y="1676401"/>
            <a:ext cx="8049973" cy="114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2684-D28F-634B-99F3-1481EABB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C832D-D5DE-D74D-B09D-8DA95783D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C92BAD-28B2-A14D-82C6-CDDA4A8B9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8042276" cy="33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54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F530-1CA5-A340-8EED-C63DC861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66E3-02F0-5B4F-B25A-8619E0895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DFAC1-075A-1244-8F00-C9AB520C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6722382" cy="377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35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59AF-926B-2D4D-98CD-2F886F4E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C50F4-B649-C146-B29C-5DCA6A1D1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2F708-E66C-1246-98FE-4F0DC648D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8065672" cy="260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80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BA11-BD0A-CF43-A5C7-E556A46A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CF785-D2C9-7141-9791-E842E0B69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F004D-9654-A546-B58C-2D7C831B8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6992515" cy="177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20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6D4E-5CE0-1349-9210-1C8CA2A3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578C6-44E1-3F4F-8E91-2A87502B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b="1" i="1" dirty="0"/>
              <a:t>A</a:t>
            </a:r>
            <a:r>
              <a:rPr lang="en-US" dirty="0"/>
              <a:t> is an </a:t>
            </a:r>
            <a:r>
              <a:rPr lang="en-US" i="1" dirty="0" err="1"/>
              <a:t>nxn</a:t>
            </a:r>
            <a:r>
              <a:rPr lang="en-US" dirty="0"/>
              <a:t> matrix. Do there exist </a:t>
            </a:r>
            <a:r>
              <a:rPr lang="en-US" i="1" dirty="0"/>
              <a:t>nx1</a:t>
            </a:r>
            <a:r>
              <a:rPr lang="en-US" dirty="0"/>
              <a:t> nonzero vectors </a:t>
            </a:r>
            <a:r>
              <a:rPr lang="en-US" b="1" i="1" dirty="0"/>
              <a:t>x</a:t>
            </a:r>
            <a:r>
              <a:rPr lang="en-US" dirty="0"/>
              <a:t> such that </a:t>
            </a:r>
            <a:r>
              <a:rPr lang="en-US" b="1" i="1" dirty="0"/>
              <a:t>Ax</a:t>
            </a:r>
            <a:r>
              <a:rPr lang="en-US" dirty="0"/>
              <a:t> is a scalar multiple of </a:t>
            </a:r>
            <a:r>
              <a:rPr lang="en-US" b="1" i="1" dirty="0"/>
              <a:t>x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The scalar is called an eigenvalue of </a:t>
            </a:r>
            <a:r>
              <a:rPr lang="en-US" b="1" i="1" dirty="0"/>
              <a:t>A</a:t>
            </a:r>
            <a:r>
              <a:rPr lang="en-US" dirty="0"/>
              <a:t> and is usually denoted by </a:t>
            </a:r>
          </a:p>
          <a:p>
            <a:r>
              <a:rPr lang="en-US" dirty="0"/>
              <a:t> The nonzero vector </a:t>
            </a:r>
            <a:r>
              <a:rPr lang="en-US" b="1" i="1" dirty="0"/>
              <a:t>x</a:t>
            </a:r>
            <a:r>
              <a:rPr lang="en-US" dirty="0"/>
              <a:t> is called an eigenvector of </a:t>
            </a:r>
            <a:r>
              <a:rPr lang="en-US" b="1" i="1" dirty="0"/>
              <a:t>A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E2467-3568-1448-A64F-A0E82C60D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478" y="2404835"/>
            <a:ext cx="2125435" cy="813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A8167A-E9EF-FD4A-8DD1-184367E5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37" y="3662941"/>
            <a:ext cx="287566" cy="39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63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9119-9ED2-1949-8D2F-C787202DF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6D19B-EC80-D949-A098-8EC9D1A13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A07C6-0B4A-E64E-9348-9ED92D1B9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939314" cy="136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95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CA81-F488-1144-9F20-5B482A03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Find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4D699-C084-504D-870C-1F820B8F0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 equation of </a:t>
            </a:r>
            <a:r>
              <a:rPr lang="en-US" b="1" i="1" dirty="0"/>
              <a:t>A</a:t>
            </a:r>
          </a:p>
          <a:p>
            <a:endParaRPr lang="en-US" b="1" i="1" dirty="0"/>
          </a:p>
          <a:p>
            <a:endParaRPr lang="en-US" b="1" i="1" dirty="0"/>
          </a:p>
          <a:p>
            <a:r>
              <a:rPr lang="en-US" dirty="0"/>
              <a:t>Eigenvalues of </a:t>
            </a:r>
            <a:r>
              <a:rPr lang="en-US" b="1" i="1" dirty="0"/>
              <a:t>A        </a:t>
            </a:r>
            <a:r>
              <a:rPr lang="en-US" dirty="0"/>
              <a:t>roots of the characteristic equation</a:t>
            </a:r>
          </a:p>
          <a:p>
            <a:r>
              <a:rPr lang="en-US" dirty="0"/>
              <a:t>Once the eigenvalues are found, use Gaussian elimination to find the corresponding eigenvectors</a:t>
            </a:r>
          </a:p>
          <a:p>
            <a:endParaRPr lang="en-US" b="1" i="1" dirty="0"/>
          </a:p>
          <a:p>
            <a:endParaRPr lang="en-US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D9DCB-152C-0740-8C0B-26D0195A2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327" y="2090057"/>
            <a:ext cx="4151087" cy="754743"/>
          </a:xfrm>
          <a:prstGeom prst="rect">
            <a:avLst/>
          </a:prstGeom>
        </p:spPr>
      </p:pic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53D46B3C-828F-9D42-A104-D21FEC572CEE}"/>
              </a:ext>
            </a:extLst>
          </p:cNvPr>
          <p:cNvSpPr/>
          <p:nvPr/>
        </p:nvSpPr>
        <p:spPr>
          <a:xfrm>
            <a:off x="3376384" y="3525158"/>
            <a:ext cx="478972" cy="246743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89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D4B8-3598-1542-A47B-CF19F67D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4CF4A-6AD0-9A47-BE2E-1EEB6C644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8100F-3626-D24F-813E-96610060E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00" y="1600201"/>
            <a:ext cx="8329026" cy="6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04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5F4D-5486-FD40-B1BB-379036F9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8DC2B-B8B1-8E4D-AF7B-C57E96F4F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0CCB5-7CE6-2B45-A408-1240D9305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837710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58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3F9F-1B6D-4741-8DF5-CB7A4CDC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Adjoint of a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20CE4-B190-F541-97E3-8EEBA0BCE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b="1" i="1" dirty="0"/>
              <a:t>A</a:t>
            </a:r>
            <a:r>
              <a:rPr lang="en-US" dirty="0"/>
              <a:t> is a square matrix, then the matrix of cofactors is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transpose</a:t>
            </a:r>
            <a:r>
              <a:rPr lang="en-US" dirty="0"/>
              <a:t> of this matrix is called the adjoint of </a:t>
            </a:r>
            <a:r>
              <a:rPr lang="en-US" b="1" i="1" dirty="0"/>
              <a:t>A</a:t>
            </a:r>
            <a:r>
              <a:rPr lang="en-US" dirty="0"/>
              <a:t>, denoted by</a:t>
            </a:r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A4589-63AF-6C48-A042-EEBA47E7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943" y="2054680"/>
            <a:ext cx="2082800" cy="1181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21E081-2AA0-704B-9D10-2F13DAB1C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278" y="4071258"/>
            <a:ext cx="30607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05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205E-6BF1-1348-9747-182D7BE7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375A1-A06D-9F49-B0E4-FF0AB87EC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F92FD-B909-3847-B4D1-06A0A8042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5938611" cy="2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38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368C-DF7C-AB43-9D9E-D76F67F68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6422-7DBD-8644-8AA1-8D2E7A4F5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8C7EB9-6AB8-1647-9969-0F36B1107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834084" cy="24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60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369CF-00B8-9C43-BFB5-E76981AA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A02C4-AD74-B546-8AC6-639236987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0FCA1-C5A6-1F4B-8807-39ED42E8C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5938611" cy="378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64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F0069-9E4F-7740-B25D-34760F4A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Cramer’s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85A6C-0F2C-5240-9E9F-C7C0D6EFF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formula that uses determinants to solve a system of n linear equations in n variables.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E8E50-D4D5-2C47-9D6C-3A46875B9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2476953"/>
            <a:ext cx="8310111" cy="190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73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53E2-E408-AB4A-A022-913EEC05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A8E52-7178-D440-BBDE-0788A645A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C2BB5-2854-2642-A196-EC284C335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53" y="1600201"/>
            <a:ext cx="7987857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06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F3EE6-5327-BD4A-A121-E2DACB6F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DAE81-584A-9A49-972E-FBED9BA08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CE8651-6218-4243-AFBC-952288047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8112611" cy="204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018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568</TotalTime>
  <Words>169</Words>
  <Application>Microsoft Office PowerPoint</Application>
  <PresentationFormat>On-screen Show (4:3)</PresentationFormat>
  <Paragraphs>22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Breeze</vt:lpstr>
      <vt:lpstr>The Determinant of a Matrix</vt:lpstr>
      <vt:lpstr>PowerPoint Presentation</vt:lpstr>
      <vt:lpstr>PowerPoint Presentation</vt:lpstr>
      <vt:lpstr>The determinant of a matrix of order higher than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Eigenvalues</vt:lpstr>
      <vt:lpstr>PowerPoint Presentation</vt:lpstr>
      <vt:lpstr>Find Eigenvalues and Eigenvectors</vt:lpstr>
      <vt:lpstr>PowerPoint Presentation</vt:lpstr>
      <vt:lpstr>PowerPoint Presentation</vt:lpstr>
      <vt:lpstr>The Adjoint of a Matrix</vt:lpstr>
      <vt:lpstr>PowerPoint Presentation</vt:lpstr>
      <vt:lpstr>PowerPoint Presentation</vt:lpstr>
      <vt:lpstr>PowerPoint Presentation</vt:lpstr>
      <vt:lpstr>Cramer’s Rule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THEOREMS OF VECTOR ANALYSIS</dc:title>
  <dc:creator>Min Wang</dc:creator>
  <cp:lastModifiedBy>Min Wang</cp:lastModifiedBy>
  <cp:revision>48</cp:revision>
  <dcterms:created xsi:type="dcterms:W3CDTF">2018-06-05T01:47:43Z</dcterms:created>
  <dcterms:modified xsi:type="dcterms:W3CDTF">2025-10-07T16:42:51Z</dcterms:modified>
</cp:coreProperties>
</file>