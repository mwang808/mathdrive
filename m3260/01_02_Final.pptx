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handoutMasterIdLst>
    <p:handoutMasterId r:id="rId34"/>
  </p:handoutMasterIdLst>
  <p:sldIdLst>
    <p:sldId id="291" r:id="rId2"/>
    <p:sldId id="294" r:id="rId3"/>
    <p:sldId id="267" r:id="rId4"/>
    <p:sldId id="297" r:id="rId5"/>
    <p:sldId id="282" r:id="rId6"/>
    <p:sldId id="290" r:id="rId7"/>
    <p:sldId id="284" r:id="rId8"/>
    <p:sldId id="298" r:id="rId9"/>
    <p:sldId id="299" r:id="rId10"/>
    <p:sldId id="300" r:id="rId11"/>
    <p:sldId id="301" r:id="rId12"/>
    <p:sldId id="320" r:id="rId13"/>
    <p:sldId id="321" r:id="rId14"/>
    <p:sldId id="302" r:id="rId15"/>
    <p:sldId id="303" r:id="rId16"/>
    <p:sldId id="304" r:id="rId17"/>
    <p:sldId id="316" r:id="rId18"/>
    <p:sldId id="317" r:id="rId19"/>
    <p:sldId id="318" r:id="rId20"/>
    <p:sldId id="319" r:id="rId21"/>
    <p:sldId id="305" r:id="rId22"/>
    <p:sldId id="306" r:id="rId23"/>
    <p:sldId id="313" r:id="rId24"/>
    <p:sldId id="314" r:id="rId25"/>
    <p:sldId id="315" r:id="rId26"/>
    <p:sldId id="307" r:id="rId27"/>
    <p:sldId id="308" r:id="rId28"/>
    <p:sldId id="310" r:id="rId29"/>
    <p:sldId id="311" r:id="rId30"/>
    <p:sldId id="312" r:id="rId31"/>
    <p:sldId id="30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0091"/>
    <a:srgbClr val="A00F73"/>
    <a:srgbClr val="207BB8"/>
    <a:srgbClr val="2075AE"/>
    <a:srgbClr val="7F4520"/>
    <a:srgbClr val="2384C6"/>
    <a:srgbClr val="6EA484"/>
    <a:srgbClr val="F79B2E"/>
    <a:srgbClr val="DAD6CB"/>
    <a:srgbClr val="807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49A5AD-AFDC-3F4B-9CB2-060F1F9C71C0}" v="10" dt="2026-02-22T12:55:50.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8" autoAdjust="0"/>
    <p:restoredTop sz="94434" autoAdjust="0"/>
  </p:normalViewPr>
  <p:slideViewPr>
    <p:cSldViewPr snapToGrid="0">
      <p:cViewPr varScale="1">
        <p:scale>
          <a:sx n="121" d="100"/>
          <a:sy n="121" d="100"/>
        </p:scale>
        <p:origin x="148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4" d="100"/>
          <a:sy n="54" d="100"/>
        </p:scale>
        <p:origin x="-283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 Wang" userId="40c509f2-6e44-41ac-be95-0b697891d3eb" providerId="ADAL" clId="{1E82F5CA-06CB-5569-B40B-7CFA0163A4AB}"/>
    <pc:docChg chg="modSld">
      <pc:chgData name="Min Wang" userId="40c509f2-6e44-41ac-be95-0b697891d3eb" providerId="ADAL" clId="{1E82F5CA-06CB-5569-B40B-7CFA0163A4AB}" dt="2026-02-22T12:55:50.032" v="28"/>
      <pc:docMkLst>
        <pc:docMk/>
      </pc:docMkLst>
      <pc:sldChg chg="mod modShow">
        <pc:chgData name="Min Wang" userId="40c509f2-6e44-41ac-be95-0b697891d3eb" providerId="ADAL" clId="{1E82F5CA-06CB-5569-B40B-7CFA0163A4AB}" dt="2026-02-22T12:52:05.679" v="0" actId="729"/>
        <pc:sldMkLst>
          <pc:docMk/>
          <pc:sldMk cId="1066034566" sldId="267"/>
        </pc:sldMkLst>
      </pc:sldChg>
      <pc:sldChg chg="addSp modSp mod modAnim">
        <pc:chgData name="Min Wang" userId="40c509f2-6e44-41ac-be95-0b697891d3eb" providerId="ADAL" clId="{1E82F5CA-06CB-5569-B40B-7CFA0163A4AB}" dt="2026-02-22T12:53:09.623" v="12"/>
        <pc:sldMkLst>
          <pc:docMk/>
          <pc:sldMk cId="1006009391" sldId="284"/>
        </pc:sldMkLst>
        <pc:picChg chg="add mod">
          <ac:chgData name="Min Wang" userId="40c509f2-6e44-41ac-be95-0b697891d3eb" providerId="ADAL" clId="{1E82F5CA-06CB-5569-B40B-7CFA0163A4AB}" dt="2026-02-22T12:52:42.097" v="5" actId="14100"/>
          <ac:picMkLst>
            <pc:docMk/>
            <pc:sldMk cId="1006009391" sldId="284"/>
            <ac:picMk id="4" creationId="{01B9AC5F-0D10-20AB-69B2-ED6DF9911957}"/>
          </ac:picMkLst>
        </pc:picChg>
        <pc:picChg chg="add mod">
          <ac:chgData name="Min Wang" userId="40c509f2-6e44-41ac-be95-0b697891d3eb" providerId="ADAL" clId="{1E82F5CA-06CB-5569-B40B-7CFA0163A4AB}" dt="2026-02-22T12:52:49.641" v="8" actId="1076"/>
          <ac:picMkLst>
            <pc:docMk/>
            <pc:sldMk cId="1006009391" sldId="284"/>
            <ac:picMk id="5" creationId="{4A22A981-8F55-DB15-F1AB-FC20586541FF}"/>
          </ac:picMkLst>
        </pc:picChg>
        <pc:picChg chg="add mod">
          <ac:chgData name="Min Wang" userId="40c509f2-6e44-41ac-be95-0b697891d3eb" providerId="ADAL" clId="{1E82F5CA-06CB-5569-B40B-7CFA0163A4AB}" dt="2026-02-22T12:53:00.404" v="11" actId="1076"/>
          <ac:picMkLst>
            <pc:docMk/>
            <pc:sldMk cId="1006009391" sldId="284"/>
            <ac:picMk id="6" creationId="{B2B92C1E-BDF8-C0C3-7EF2-2A0AC81FA64F}"/>
          </ac:picMkLst>
        </pc:picChg>
      </pc:sldChg>
      <pc:sldChg chg="addSp modSp mod modAnim">
        <pc:chgData name="Min Wang" userId="40c509f2-6e44-41ac-be95-0b697891d3eb" providerId="ADAL" clId="{1E82F5CA-06CB-5569-B40B-7CFA0163A4AB}" dt="2026-02-22T12:55:50.032" v="28"/>
        <pc:sldMkLst>
          <pc:docMk/>
          <pc:sldMk cId="3801165088" sldId="310"/>
        </pc:sldMkLst>
        <pc:picChg chg="add mod">
          <ac:chgData name="Min Wang" userId="40c509f2-6e44-41ac-be95-0b697891d3eb" providerId="ADAL" clId="{1E82F5CA-06CB-5569-B40B-7CFA0163A4AB}" dt="2026-02-22T12:55:47.616" v="27" actId="14100"/>
          <ac:picMkLst>
            <pc:docMk/>
            <pc:sldMk cId="3801165088" sldId="310"/>
            <ac:picMk id="4" creationId="{B7B39D1C-7497-676E-B504-03735C65B7DD}"/>
          </ac:picMkLst>
        </pc:picChg>
      </pc:sldChg>
      <pc:sldChg chg="addSp modSp mod modAnim">
        <pc:chgData name="Min Wang" userId="40c509f2-6e44-41ac-be95-0b697891d3eb" providerId="ADAL" clId="{1E82F5CA-06CB-5569-B40B-7CFA0163A4AB}" dt="2026-02-22T12:55:26.008" v="24"/>
        <pc:sldMkLst>
          <pc:docMk/>
          <pc:sldMk cId="3345177895" sldId="313"/>
        </pc:sldMkLst>
        <pc:picChg chg="add mod">
          <ac:chgData name="Min Wang" userId="40c509f2-6e44-41ac-be95-0b697891d3eb" providerId="ADAL" clId="{1E82F5CA-06CB-5569-B40B-7CFA0163A4AB}" dt="2026-02-22T12:55:22.650" v="23" actId="14100"/>
          <ac:picMkLst>
            <pc:docMk/>
            <pc:sldMk cId="3345177895" sldId="313"/>
            <ac:picMk id="4" creationId="{636654A9-E2F0-ACA8-6DA4-938E4D837A67}"/>
          </ac:picMkLst>
        </pc:picChg>
      </pc:sldChg>
      <pc:sldChg chg="addSp modSp mod modAnim">
        <pc:chgData name="Min Wang" userId="40c509f2-6e44-41ac-be95-0b697891d3eb" providerId="ADAL" clId="{1E82F5CA-06CB-5569-B40B-7CFA0163A4AB}" dt="2026-02-22T12:54:32.014" v="18"/>
        <pc:sldMkLst>
          <pc:docMk/>
          <pc:sldMk cId="2072849436" sldId="316"/>
        </pc:sldMkLst>
        <pc:picChg chg="add mod">
          <ac:chgData name="Min Wang" userId="40c509f2-6e44-41ac-be95-0b697891d3eb" providerId="ADAL" clId="{1E82F5CA-06CB-5569-B40B-7CFA0163A4AB}" dt="2026-02-22T12:54:29.061" v="17" actId="14100"/>
          <ac:picMkLst>
            <pc:docMk/>
            <pc:sldMk cId="2072849436" sldId="316"/>
            <ac:picMk id="4" creationId="{2BFCDBB0-6BD6-F744-0A40-33B1BD7199D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23DDC7F-11C0-4319-A581-E4C85DF4DCC7}" type="datetimeFigureOut">
              <a:rPr lang="en-IN" smtClean="0"/>
              <a:t>22/02/26</a:t>
            </a:fld>
            <a:endParaRPr lang="en-IN"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04B23B4-F070-49C3-8878-E1472E18C760}" type="slidenum">
              <a:rPr lang="en-IN" smtClean="0"/>
              <a:t>‹#›</a:t>
            </a:fld>
            <a:endParaRPr lang="en-IN" dirty="0"/>
          </a:p>
        </p:txBody>
      </p:sp>
    </p:spTree>
    <p:extLst>
      <p:ext uri="{BB962C8B-B14F-4D97-AF65-F5344CB8AC3E}">
        <p14:creationId xmlns:p14="http://schemas.microsoft.com/office/powerpoint/2010/main" val="4238159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83980-AF8F-4A7A-B2E2-26960AEE503E}" type="datetimeFigureOut">
              <a:rPr lang="en-IN" smtClean="0"/>
              <a:t>22/02/26</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133D7F-26E6-4153-B08C-5F7A98CE0E5A}" type="slidenum">
              <a:rPr lang="en-IN" smtClean="0"/>
              <a:t>‹#›</a:t>
            </a:fld>
            <a:endParaRPr lang="en-IN" dirty="0"/>
          </a:p>
        </p:txBody>
      </p:sp>
    </p:spTree>
    <p:extLst>
      <p:ext uri="{BB962C8B-B14F-4D97-AF65-F5344CB8AC3E}">
        <p14:creationId xmlns:p14="http://schemas.microsoft.com/office/powerpoint/2010/main" val="601505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25FFA8-3268-4756-906C-6FE5550883BC}" type="datetime1">
              <a:rPr lang="en-IN" smtClean="0"/>
              <a:t>22/02/26</a:t>
            </a:fld>
            <a:endParaRPr lang="en-IN" dirty="0"/>
          </a:p>
        </p:txBody>
      </p:sp>
      <p:sp>
        <p:nvSpPr>
          <p:cNvPr id="5" name="Footer Placeholder 4"/>
          <p:cNvSpPr>
            <a:spLocks noGrp="1"/>
          </p:cNvSpPr>
          <p:nvPr>
            <p:ph type="ftr" sz="quarter" idx="11"/>
          </p:nvPr>
        </p:nvSpPr>
        <p:spPr/>
        <p:txBody>
          <a:bodyPr/>
          <a:lstStyle/>
          <a:p>
            <a:r>
              <a:rPr lang="en-IN" dirty="0"/>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1725596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338649-EA52-4F6F-A9BA-CF3920DD1EED}" type="datetime1">
              <a:rPr lang="en-IN" smtClean="0"/>
              <a:t>22/02/26</a:t>
            </a:fld>
            <a:endParaRPr lang="en-IN" dirty="0"/>
          </a:p>
        </p:txBody>
      </p:sp>
      <p:sp>
        <p:nvSpPr>
          <p:cNvPr id="5" name="Footer Placeholder 4"/>
          <p:cNvSpPr>
            <a:spLocks noGrp="1"/>
          </p:cNvSpPr>
          <p:nvPr>
            <p:ph type="ftr" sz="quarter" idx="11"/>
          </p:nvPr>
        </p:nvSpPr>
        <p:spPr/>
        <p:txBody>
          <a:bodyPr/>
          <a:lstStyle/>
          <a:p>
            <a:r>
              <a:rPr lang="en-IN" dirty="0"/>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4098482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CA1E6-0660-490A-B2E9-7EF4EAE20A05}" type="datetime1">
              <a:rPr lang="en-IN" smtClean="0"/>
              <a:t>22/02/26</a:t>
            </a:fld>
            <a:endParaRPr lang="en-IN" dirty="0"/>
          </a:p>
        </p:txBody>
      </p:sp>
      <p:sp>
        <p:nvSpPr>
          <p:cNvPr id="5" name="Footer Placeholder 4"/>
          <p:cNvSpPr>
            <a:spLocks noGrp="1"/>
          </p:cNvSpPr>
          <p:nvPr>
            <p:ph type="ftr" sz="quarter" idx="11"/>
          </p:nvPr>
        </p:nvSpPr>
        <p:spPr/>
        <p:txBody>
          <a:bodyPr/>
          <a:lstStyle/>
          <a:p>
            <a:r>
              <a:rPr lang="en-IN" dirty="0"/>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16822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DE4E4-5CAA-46CA-85DC-EB089A2E8FC9}" type="datetime1">
              <a:rPr lang="en-IN" smtClean="0"/>
              <a:t>22/02/26</a:t>
            </a:fld>
            <a:endParaRPr lang="en-IN" dirty="0"/>
          </a:p>
        </p:txBody>
      </p:sp>
      <p:sp>
        <p:nvSpPr>
          <p:cNvPr id="6" name="Footer Placeholder 5"/>
          <p:cNvSpPr>
            <a:spLocks noGrp="1"/>
          </p:cNvSpPr>
          <p:nvPr>
            <p:ph type="ftr" sz="quarter" idx="11"/>
          </p:nvPr>
        </p:nvSpPr>
        <p:spPr/>
        <p:txBody>
          <a:bodyPr/>
          <a:lstStyle/>
          <a:p>
            <a:r>
              <a:rPr lang="en-IN" dirty="0"/>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1848888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F8165B-E190-40F2-8101-43E7504CF5F1}" type="datetime1">
              <a:rPr lang="en-IN" smtClean="0"/>
              <a:t>22/02/26</a:t>
            </a:fld>
            <a:endParaRPr lang="en-IN" dirty="0"/>
          </a:p>
        </p:txBody>
      </p:sp>
      <p:sp>
        <p:nvSpPr>
          <p:cNvPr id="8" name="Footer Placeholder 7"/>
          <p:cNvSpPr>
            <a:spLocks noGrp="1"/>
          </p:cNvSpPr>
          <p:nvPr>
            <p:ph type="ftr" sz="quarter" idx="11"/>
          </p:nvPr>
        </p:nvSpPr>
        <p:spPr/>
        <p:txBody>
          <a:bodyPr/>
          <a:lstStyle/>
          <a:p>
            <a:r>
              <a:rPr lang="en-IN" dirty="0"/>
              <a:t>Copyright © Cengage Learning. All rights reserved. </a:t>
            </a:r>
          </a:p>
        </p:txBody>
      </p:sp>
      <p:sp>
        <p:nvSpPr>
          <p:cNvPr id="9" name="Slide Number Placeholder 8"/>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595081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BACF9A-E8A1-43AF-B7D9-263F9AE2610D}" type="datetime1">
              <a:rPr lang="en-IN" smtClean="0"/>
              <a:t>22/02/26</a:t>
            </a:fld>
            <a:endParaRPr lang="en-IN" dirty="0"/>
          </a:p>
        </p:txBody>
      </p:sp>
      <p:sp>
        <p:nvSpPr>
          <p:cNvPr id="4" name="Footer Placeholder 3"/>
          <p:cNvSpPr>
            <a:spLocks noGrp="1"/>
          </p:cNvSpPr>
          <p:nvPr>
            <p:ph type="ftr" sz="quarter" idx="11"/>
          </p:nvPr>
        </p:nvSpPr>
        <p:spPr/>
        <p:txBody>
          <a:bodyPr/>
          <a:lstStyle/>
          <a:p>
            <a:r>
              <a:rPr lang="en-IN" dirty="0"/>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12978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6F3DB-847B-4A18-8621-525FC98EA45F}" type="datetime1">
              <a:rPr lang="en-IN" smtClean="0"/>
              <a:t>22/02/26</a:t>
            </a:fld>
            <a:endParaRPr lang="en-IN" dirty="0"/>
          </a:p>
        </p:txBody>
      </p:sp>
      <p:sp>
        <p:nvSpPr>
          <p:cNvPr id="3" name="Footer Placeholder 2"/>
          <p:cNvSpPr>
            <a:spLocks noGrp="1"/>
          </p:cNvSpPr>
          <p:nvPr>
            <p:ph type="ftr" sz="quarter" idx="11"/>
          </p:nvPr>
        </p:nvSpPr>
        <p:spPr/>
        <p:txBody>
          <a:bodyPr/>
          <a:lstStyle/>
          <a:p>
            <a:r>
              <a:rPr lang="en-IN" dirty="0"/>
              <a:t>Copyright © Cengage Learning. All rights reserved. </a:t>
            </a:r>
          </a:p>
        </p:txBody>
      </p:sp>
      <p:sp>
        <p:nvSpPr>
          <p:cNvPr id="4" name="Slide Number Placeholder 3"/>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324856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686C78-40C8-4D18-BCAA-247D7F7415BD}" type="datetime1">
              <a:rPr lang="en-IN" smtClean="0"/>
              <a:t>22/02/26</a:t>
            </a:fld>
            <a:endParaRPr lang="en-IN" dirty="0"/>
          </a:p>
        </p:txBody>
      </p:sp>
      <p:sp>
        <p:nvSpPr>
          <p:cNvPr id="6" name="Footer Placeholder 5"/>
          <p:cNvSpPr>
            <a:spLocks noGrp="1"/>
          </p:cNvSpPr>
          <p:nvPr>
            <p:ph type="ftr" sz="quarter" idx="11"/>
          </p:nvPr>
        </p:nvSpPr>
        <p:spPr/>
        <p:txBody>
          <a:bodyPr/>
          <a:lstStyle/>
          <a:p>
            <a:r>
              <a:rPr lang="en-IN" dirty="0"/>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1071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1E2FC4-1061-4459-8611-D61B517EACA0}" type="datetime1">
              <a:rPr lang="en-IN" smtClean="0"/>
              <a:t>22/02/26</a:t>
            </a:fld>
            <a:endParaRPr lang="en-IN" dirty="0"/>
          </a:p>
        </p:txBody>
      </p:sp>
      <p:sp>
        <p:nvSpPr>
          <p:cNvPr id="6" name="Footer Placeholder 5"/>
          <p:cNvSpPr>
            <a:spLocks noGrp="1"/>
          </p:cNvSpPr>
          <p:nvPr>
            <p:ph type="ftr" sz="quarter" idx="11"/>
          </p:nvPr>
        </p:nvSpPr>
        <p:spPr/>
        <p:txBody>
          <a:bodyPr/>
          <a:lstStyle/>
          <a:p>
            <a:r>
              <a:rPr lang="en-IN" dirty="0"/>
              <a:t>Copyright © Cengage Learning. All rights reserved. </a:t>
            </a:r>
          </a:p>
        </p:txBody>
      </p:sp>
      <p:sp>
        <p:nvSpPr>
          <p:cNvPr id="7" name="Slide Number Placeholder 6"/>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24032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59190-FC26-4B66-A734-7787631E3406}" type="datetime1">
              <a:rPr lang="en-IN" smtClean="0"/>
              <a:t>22/02/26</a:t>
            </a:fld>
            <a:endParaRPr lang="en-IN" dirty="0"/>
          </a:p>
        </p:txBody>
      </p:sp>
      <p:sp>
        <p:nvSpPr>
          <p:cNvPr id="5" name="Footer Placeholder 4"/>
          <p:cNvSpPr>
            <a:spLocks noGrp="1"/>
          </p:cNvSpPr>
          <p:nvPr>
            <p:ph type="ftr" sz="quarter" idx="11"/>
          </p:nvPr>
        </p:nvSpPr>
        <p:spPr/>
        <p:txBody>
          <a:bodyPr/>
          <a:lstStyle/>
          <a:p>
            <a:r>
              <a:rPr lang="en-IN" dirty="0"/>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553327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8242EA-2449-45C0-ABBB-8C2AE950ABCD}" type="datetime1">
              <a:rPr lang="en-IN" smtClean="0"/>
              <a:t>22/02/26</a:t>
            </a:fld>
            <a:endParaRPr lang="en-IN" dirty="0"/>
          </a:p>
        </p:txBody>
      </p:sp>
      <p:sp>
        <p:nvSpPr>
          <p:cNvPr id="5" name="Footer Placeholder 4"/>
          <p:cNvSpPr>
            <a:spLocks noGrp="1"/>
          </p:cNvSpPr>
          <p:nvPr>
            <p:ph type="ftr" sz="quarter" idx="11"/>
          </p:nvPr>
        </p:nvSpPr>
        <p:spPr/>
        <p:txBody>
          <a:bodyPr/>
          <a:lstStyle/>
          <a:p>
            <a:r>
              <a:rPr lang="en-IN" dirty="0"/>
              <a:t>Copyright © Cengage Learning. All rights reserved. </a:t>
            </a:r>
          </a:p>
        </p:txBody>
      </p:sp>
      <p:sp>
        <p:nvSpPr>
          <p:cNvPr id="6" name="Slide Number Placeholder 5"/>
          <p:cNvSpPr>
            <a:spLocks noGrp="1"/>
          </p:cNvSpPr>
          <p:nvPr>
            <p:ph type="sldNum" sz="quarter" idx="12"/>
          </p:nvPr>
        </p:nvSpPr>
        <p:spPr/>
        <p:txBody>
          <a:bodyPr/>
          <a:lstStyle/>
          <a:p>
            <a:fld id="{A87FF525-DAB2-4BDC-A82F-1466554F68BC}" type="slidenum">
              <a:rPr lang="en-IN" smtClean="0"/>
              <a:t>‹#›</a:t>
            </a:fld>
            <a:endParaRPr lang="en-IN" dirty="0"/>
          </a:p>
        </p:txBody>
      </p:sp>
    </p:spTree>
    <p:extLst>
      <p:ext uri="{BB962C8B-B14F-4D97-AF65-F5344CB8AC3E}">
        <p14:creationId xmlns:p14="http://schemas.microsoft.com/office/powerpoint/2010/main" val="2486918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3111"/>
            <a:ext cx="9144000" cy="61691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172278" y="297614"/>
            <a:ext cx="1709529" cy="987846"/>
          </a:xfrm>
        </p:spPr>
        <p:txBody>
          <a:bodyPr>
            <a:noAutofit/>
          </a:bodyPr>
          <a:lstStyle>
            <a:lvl1pPr algn="ctr">
              <a:defRPr sz="8000" b="1">
                <a:solidFill>
                  <a:srgbClr val="7F4520"/>
                </a:solidFill>
                <a:latin typeface="Arial" panose="020B0604020202020204" pitchFamily="34" charset="0"/>
                <a:cs typeface="Arial" panose="020B0604020202020204" pitchFamily="34" charset="0"/>
              </a:defRPr>
            </a:lvl1pPr>
          </a:lstStyle>
          <a:p>
            <a:r>
              <a:rPr lang="en-US" dirty="0"/>
              <a:t>CN</a:t>
            </a:r>
            <a:endParaRPr lang="en-IN" dirty="0"/>
          </a:p>
        </p:txBody>
      </p:sp>
      <p:sp>
        <p:nvSpPr>
          <p:cNvPr id="9" name="Text Placeholder 8"/>
          <p:cNvSpPr>
            <a:spLocks noGrp="1"/>
          </p:cNvSpPr>
          <p:nvPr>
            <p:ph type="body" sz="quarter" idx="13"/>
          </p:nvPr>
        </p:nvSpPr>
        <p:spPr>
          <a:xfrm>
            <a:off x="2014332" y="159026"/>
            <a:ext cx="6970642" cy="1245706"/>
          </a:xfrm>
        </p:spPr>
        <p:txBody>
          <a:bodyPr/>
          <a:lstStyle>
            <a:lvl1pPr marL="0" indent="0">
              <a:lnSpc>
                <a:spcPct val="100000"/>
              </a:lnSpc>
              <a:buNone/>
              <a:defRPr sz="4000" b="1">
                <a:solidFill>
                  <a:srgbClr val="207BB8"/>
                </a:solidFill>
                <a:effectLst/>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Date Placeholder 9"/>
          <p:cNvSpPr>
            <a:spLocks noGrp="1"/>
          </p:cNvSpPr>
          <p:nvPr>
            <p:ph type="dt" sz="half" idx="14"/>
          </p:nvPr>
        </p:nvSpPr>
        <p:spPr/>
        <p:txBody>
          <a:bodyPr/>
          <a:lstStyle/>
          <a:p>
            <a:fld id="{F0095ACF-05BB-4AFF-847E-032AC35A8597}" type="datetime1">
              <a:rPr lang="en-IN" smtClean="0"/>
              <a:t>22/02/26</a:t>
            </a:fld>
            <a:endParaRPr lang="en-IN" dirty="0"/>
          </a:p>
        </p:txBody>
      </p:sp>
      <p:sp>
        <p:nvSpPr>
          <p:cNvPr id="11" name="Footer Placeholder 10"/>
          <p:cNvSpPr>
            <a:spLocks noGrp="1"/>
          </p:cNvSpPr>
          <p:nvPr>
            <p:ph type="ftr" sz="quarter" idx="15"/>
          </p:nvPr>
        </p:nvSpPr>
        <p:spPr>
          <a:xfrm>
            <a:off x="2146300" y="6356351"/>
            <a:ext cx="4744830" cy="365125"/>
          </a:xfrm>
        </p:spPr>
        <p:txBody>
          <a:bodyPr/>
          <a:lstStyle>
            <a:lvl1pPr algn="ctr">
              <a:defRPr sz="1400">
                <a:solidFill>
                  <a:schemeClr val="tx1"/>
                </a:solidFill>
                <a:latin typeface="Arial" panose="020B0604020202020204" pitchFamily="34" charset="0"/>
                <a:cs typeface="Arial" panose="020B0604020202020204" pitchFamily="34" charset="0"/>
              </a:defRPr>
            </a:lvl1pPr>
          </a:lstStyle>
          <a:p>
            <a:r>
              <a:rPr lang="en-IN" dirty="0"/>
              <a:t>Copyright © Cengage Learning. All rights reserved. </a:t>
            </a:r>
          </a:p>
        </p:txBody>
      </p:sp>
      <p:sp>
        <p:nvSpPr>
          <p:cNvPr id="12" name="Slide Number Placeholder 11"/>
          <p:cNvSpPr>
            <a:spLocks noGrp="1"/>
          </p:cNvSpPr>
          <p:nvPr>
            <p:ph type="sldNum" sz="quarter" idx="16"/>
          </p:nvPr>
        </p:nvSpPr>
        <p:spPr/>
        <p:txBody>
          <a:bodyPr/>
          <a:lstStyle/>
          <a:p>
            <a:fld id="{A87FF525-DAB2-4BDC-A82F-1466554F68BC}" type="slidenum">
              <a:rPr lang="en-IN" smtClean="0"/>
              <a:t>‹#›</a:t>
            </a:fld>
            <a:endParaRPr lang="en-IN" dirty="0"/>
          </a:p>
        </p:txBody>
      </p:sp>
      <p:sp>
        <p:nvSpPr>
          <p:cNvPr id="4" name="Text Placeholder 3"/>
          <p:cNvSpPr>
            <a:spLocks noGrp="1"/>
          </p:cNvSpPr>
          <p:nvPr>
            <p:ph type="body" sz="quarter" idx="17"/>
          </p:nvPr>
        </p:nvSpPr>
        <p:spPr>
          <a:xfrm>
            <a:off x="6003925"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3"/>
          <p:cNvSpPr>
            <a:spLocks noGrp="1"/>
          </p:cNvSpPr>
          <p:nvPr>
            <p:ph type="body" sz="quarter" idx="18"/>
          </p:nvPr>
        </p:nvSpPr>
        <p:spPr>
          <a:xfrm>
            <a:off x="6024562"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Text Placeholder 3"/>
          <p:cNvSpPr>
            <a:spLocks noGrp="1"/>
          </p:cNvSpPr>
          <p:nvPr>
            <p:ph type="body" sz="quarter" idx="19"/>
          </p:nvPr>
        </p:nvSpPr>
        <p:spPr>
          <a:xfrm>
            <a:off x="6003925" y="1855788"/>
            <a:ext cx="2344738" cy="768350"/>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Picture Placeholder 5"/>
          <p:cNvSpPr>
            <a:spLocks noGrp="1"/>
          </p:cNvSpPr>
          <p:nvPr>
            <p:ph type="pic" sz="quarter" idx="21"/>
          </p:nvPr>
        </p:nvSpPr>
        <p:spPr>
          <a:xfrm>
            <a:off x="2146300" y="3856165"/>
            <a:ext cx="2332037" cy="503237"/>
          </a:xfrm>
        </p:spPr>
        <p:txBody>
          <a:bodyPr/>
          <a:lstStyle>
            <a:lvl1pPr marL="0" indent="0">
              <a:buNone/>
              <a:defRPr/>
            </a:lvl1pPr>
          </a:lstStyle>
          <a:p>
            <a:endParaRPr lang="en-IN" dirty="0"/>
          </a:p>
        </p:txBody>
      </p:sp>
      <p:sp>
        <p:nvSpPr>
          <p:cNvPr id="16" name="Picture Placeholder 5"/>
          <p:cNvSpPr>
            <a:spLocks noGrp="1"/>
          </p:cNvSpPr>
          <p:nvPr>
            <p:ph type="pic" sz="quarter" idx="22"/>
          </p:nvPr>
        </p:nvSpPr>
        <p:spPr>
          <a:xfrm>
            <a:off x="3027570" y="3879737"/>
            <a:ext cx="2332037" cy="503237"/>
          </a:xfrm>
        </p:spPr>
        <p:txBody>
          <a:bodyPr/>
          <a:lstStyle>
            <a:lvl1pPr marL="0" indent="0">
              <a:buNone/>
              <a:defRPr/>
            </a:lvl1pPr>
          </a:lstStyle>
          <a:p>
            <a:endParaRPr lang="en-IN" dirty="0"/>
          </a:p>
        </p:txBody>
      </p:sp>
      <p:sp>
        <p:nvSpPr>
          <p:cNvPr id="6" name="Picture Placeholder 5"/>
          <p:cNvSpPr>
            <a:spLocks noGrp="1"/>
          </p:cNvSpPr>
          <p:nvPr>
            <p:ph type="pic" sz="quarter" idx="20"/>
          </p:nvPr>
        </p:nvSpPr>
        <p:spPr>
          <a:xfrm>
            <a:off x="490538" y="3830638"/>
            <a:ext cx="2332037" cy="503237"/>
          </a:xfrm>
        </p:spPr>
        <p:txBody>
          <a:bodyPr/>
          <a:lstStyle>
            <a:lvl1pPr marL="0" indent="0">
              <a:buNone/>
              <a:defRPr/>
            </a:lvl1pPr>
          </a:lstStyle>
          <a:p>
            <a:endParaRPr lang="en-IN" dirty="0"/>
          </a:p>
        </p:txBody>
      </p:sp>
    </p:spTree>
    <p:extLst>
      <p:ext uri="{BB962C8B-B14F-4D97-AF65-F5344CB8AC3E}">
        <p14:creationId xmlns:p14="http://schemas.microsoft.com/office/powerpoint/2010/main" val="214382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pic>
        <p:nvPicPr>
          <p:cNvPr id="6" name="Picture 6"/>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280987" y="2530548"/>
            <a:ext cx="8582025" cy="1266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159026" y="2822092"/>
            <a:ext cx="1510753" cy="769248"/>
          </a:xfrm>
        </p:spPr>
        <p:txBody>
          <a:bodyPr>
            <a:normAutofit/>
          </a:bodyPr>
          <a:lstStyle>
            <a:lvl1pPr algn="ctr">
              <a:defRPr sz="4000" b="1">
                <a:solidFill>
                  <a:schemeClr val="bg1"/>
                </a:solidFill>
                <a:latin typeface="Arial" panose="020B0604020202020204" pitchFamily="34" charset="0"/>
                <a:cs typeface="Arial" panose="020B0604020202020204" pitchFamily="34" charset="0"/>
              </a:defRPr>
            </a:lvl1pPr>
          </a:lstStyle>
          <a:p>
            <a:r>
              <a:rPr lang="en-US" dirty="0"/>
              <a:t>SN</a:t>
            </a:r>
            <a:endParaRPr lang="en-IN" dirty="0"/>
          </a:p>
        </p:txBody>
      </p:sp>
      <p:sp>
        <p:nvSpPr>
          <p:cNvPr id="3" name="Date Placeholder 2"/>
          <p:cNvSpPr>
            <a:spLocks noGrp="1"/>
          </p:cNvSpPr>
          <p:nvPr>
            <p:ph type="dt" sz="half" idx="10"/>
          </p:nvPr>
        </p:nvSpPr>
        <p:spPr/>
        <p:txBody>
          <a:bodyPr/>
          <a:lstStyle/>
          <a:p>
            <a:fld id="{10759A80-E17D-452E-880A-985F8AC699C0}" type="datetime1">
              <a:rPr lang="en-IN" smtClean="0"/>
              <a:t>22/02/26</a:t>
            </a:fld>
            <a:endParaRPr lang="en-IN" dirty="0"/>
          </a:p>
        </p:txBody>
      </p:sp>
      <p:sp>
        <p:nvSpPr>
          <p:cNvPr id="4" name="Footer Placeholder 3"/>
          <p:cNvSpPr>
            <a:spLocks noGrp="1"/>
          </p:cNvSpPr>
          <p:nvPr>
            <p:ph type="ftr" sz="quarter" idx="11"/>
          </p:nvPr>
        </p:nvSpPr>
        <p:spPr/>
        <p:txBody>
          <a:bodyPr/>
          <a:lstStyle/>
          <a:p>
            <a:r>
              <a:rPr lang="en-IN" dirty="0"/>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dirty="0"/>
          </a:p>
        </p:txBody>
      </p:sp>
      <p:sp>
        <p:nvSpPr>
          <p:cNvPr id="8" name="Text Placeholder 7"/>
          <p:cNvSpPr>
            <a:spLocks noGrp="1"/>
          </p:cNvSpPr>
          <p:nvPr>
            <p:ph type="body" sz="quarter" idx="13"/>
          </p:nvPr>
        </p:nvSpPr>
        <p:spPr>
          <a:xfrm>
            <a:off x="1789053" y="2835690"/>
            <a:ext cx="6811608" cy="662881"/>
          </a:xfrm>
        </p:spPr>
        <p:txBody>
          <a:bodyPr/>
          <a:lstStyle>
            <a:lvl1pPr marL="0" indent="0">
              <a:lnSpc>
                <a:spcPct val="100000"/>
              </a:lnSpc>
              <a:buNone/>
              <a:defRPr sz="4000">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Footer Placeholder 4"/>
          <p:cNvSpPr txBox="1">
            <a:spLocks/>
          </p:cNvSpPr>
          <p:nvPr userDrawn="1"/>
        </p:nvSpPr>
        <p:spPr>
          <a:xfrm>
            <a:off x="1974575" y="6356350"/>
            <a:ext cx="5115339"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Copyright © Cengage Learning. All rights reserved. </a:t>
            </a:r>
          </a:p>
        </p:txBody>
      </p:sp>
      <p:sp>
        <p:nvSpPr>
          <p:cNvPr id="9" name="Text Placeholder 8"/>
          <p:cNvSpPr>
            <a:spLocks noGrp="1"/>
          </p:cNvSpPr>
          <p:nvPr>
            <p:ph type="body" sz="quarter" idx="14"/>
          </p:nvPr>
        </p:nvSpPr>
        <p:spPr>
          <a:xfrm>
            <a:off x="396875" y="4319588"/>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8"/>
          <p:cNvSpPr>
            <a:spLocks noGrp="1"/>
          </p:cNvSpPr>
          <p:nvPr>
            <p:ph type="body" sz="quarter" idx="15"/>
          </p:nvPr>
        </p:nvSpPr>
        <p:spPr>
          <a:xfrm>
            <a:off x="2954890" y="4319587"/>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8"/>
          <p:cNvSpPr>
            <a:spLocks noGrp="1"/>
          </p:cNvSpPr>
          <p:nvPr>
            <p:ph type="body" sz="quarter" idx="16"/>
          </p:nvPr>
        </p:nvSpPr>
        <p:spPr>
          <a:xfrm>
            <a:off x="5708304" y="4319586"/>
            <a:ext cx="3154708" cy="688975"/>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396875" y="5459413"/>
            <a:ext cx="2187575" cy="544512"/>
          </a:xfrm>
        </p:spPr>
        <p:txBody>
          <a:bodyPr/>
          <a:lstStyle>
            <a:lvl1pPr marL="0" indent="0">
              <a:buNone/>
              <a:defRPr/>
            </a:lvl1pPr>
          </a:lstStyle>
          <a:p>
            <a:endParaRPr lang="en-IN" dirty="0"/>
          </a:p>
        </p:txBody>
      </p:sp>
      <p:sp>
        <p:nvSpPr>
          <p:cNvPr id="15" name="Picture Placeholder 13"/>
          <p:cNvSpPr>
            <a:spLocks noGrp="1"/>
          </p:cNvSpPr>
          <p:nvPr>
            <p:ph type="pic" sz="quarter" idx="18"/>
          </p:nvPr>
        </p:nvSpPr>
        <p:spPr>
          <a:xfrm>
            <a:off x="1974229" y="5410199"/>
            <a:ext cx="2187575" cy="544512"/>
          </a:xfrm>
        </p:spPr>
        <p:txBody>
          <a:bodyPr/>
          <a:lstStyle>
            <a:lvl1pPr marL="0" indent="0">
              <a:buNone/>
              <a:defRPr/>
            </a:lvl1pPr>
          </a:lstStyle>
          <a:p>
            <a:endParaRPr lang="en-IN" dirty="0"/>
          </a:p>
        </p:txBody>
      </p:sp>
      <p:sp>
        <p:nvSpPr>
          <p:cNvPr id="16" name="Picture Placeholder 13"/>
          <p:cNvSpPr>
            <a:spLocks noGrp="1"/>
          </p:cNvSpPr>
          <p:nvPr>
            <p:ph type="pic" sz="quarter" idx="19"/>
          </p:nvPr>
        </p:nvSpPr>
        <p:spPr>
          <a:xfrm>
            <a:off x="3226559" y="5437528"/>
            <a:ext cx="2187575" cy="544512"/>
          </a:xfrm>
        </p:spPr>
        <p:txBody>
          <a:bodyPr/>
          <a:lstStyle>
            <a:lvl1pPr marL="0" indent="0">
              <a:buNone/>
              <a:defRPr/>
            </a:lvl1pPr>
          </a:lstStyle>
          <a:p>
            <a:endParaRPr lang="en-IN" dirty="0"/>
          </a:p>
        </p:txBody>
      </p:sp>
    </p:spTree>
    <p:extLst>
      <p:ext uri="{BB962C8B-B14F-4D97-AF65-F5344CB8AC3E}">
        <p14:creationId xmlns:p14="http://schemas.microsoft.com/office/powerpoint/2010/main" val="3458189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enter Slide">
    <p:spTree>
      <p:nvGrpSpPr>
        <p:cNvPr id="1" name=""/>
        <p:cNvGrpSpPr/>
        <p:nvPr/>
      </p:nvGrpSpPr>
      <p:grpSpPr>
        <a:xfrm>
          <a:off x="0" y="0"/>
          <a:ext cx="0" cy="0"/>
          <a:chOff x="0" y="0"/>
          <a:chExt cx="0" cy="0"/>
        </a:xfrm>
      </p:grpSpPr>
      <p:pic>
        <p:nvPicPr>
          <p:cNvPr id="6" name="Picture 4"/>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90500" y="387280"/>
            <a:ext cx="87630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825496"/>
            <a:ext cx="8229600" cy="1143000"/>
          </a:xfrm>
        </p:spPr>
        <p:txBody>
          <a:bodyPr>
            <a:normAutofit/>
          </a:bodyPr>
          <a:lstStyle>
            <a:lvl1pPr algn="ctr">
              <a:lnSpc>
                <a:spcPct val="100000"/>
              </a:lnSpc>
              <a:defRPr sz="4000">
                <a:solidFill>
                  <a:srgbClr val="7F4520"/>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EFA3A666-AD7C-41F4-8846-1EF5924D4CDA}" type="datetime1">
              <a:rPr lang="en-IN" smtClean="0"/>
              <a:t>22/02/26</a:t>
            </a:fld>
            <a:endParaRPr lang="en-IN" dirty="0"/>
          </a:p>
        </p:txBody>
      </p:sp>
      <p:sp>
        <p:nvSpPr>
          <p:cNvPr id="4" name="Footer Placeholder 3"/>
          <p:cNvSpPr>
            <a:spLocks noGrp="1"/>
          </p:cNvSpPr>
          <p:nvPr>
            <p:ph type="ftr" sz="quarter" idx="11"/>
          </p:nvPr>
        </p:nvSpPr>
        <p:spPr/>
        <p:txBody>
          <a:bodyPr/>
          <a:lstStyle/>
          <a:p>
            <a:r>
              <a:rPr lang="en-IN" dirty="0"/>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dirty="0"/>
          </a:p>
        </p:txBody>
      </p:sp>
      <p:sp>
        <p:nvSpPr>
          <p:cNvPr id="11" name="Slide Number Placeholder 3"/>
          <p:cNvSpPr txBox="1">
            <a:spLocks/>
          </p:cNvSpPr>
          <p:nvPr userDrawn="1"/>
        </p:nvSpPr>
        <p:spPr>
          <a:xfrm>
            <a:off x="8494776" y="6391656"/>
            <a:ext cx="649224" cy="365125"/>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1CAA2A77-17DC-4CE3-AB44-4B0BB14D7176}" type="slidenum">
              <a:rPr lang="en-IN" smtClean="0">
                <a:solidFill>
                  <a:srgbClr val="000000"/>
                </a:solidFill>
                <a:latin typeface="Arial" panose="020B0604020202020204" pitchFamily="34" charset="0"/>
                <a:cs typeface="Arial" panose="020B0604020202020204" pitchFamily="34" charset="0"/>
              </a:rPr>
              <a:pPr/>
              <a:t>‹#›</a:t>
            </a:fld>
            <a:endParaRPr lang="en-IN" dirty="0">
              <a:solidFill>
                <a:srgbClr val="000000"/>
              </a:solidFill>
              <a:latin typeface="Arial" panose="020B0604020202020204" pitchFamily="34" charset="0"/>
              <a:cs typeface="Arial" panose="020B0604020202020204" pitchFamily="34" charset="0"/>
            </a:endParaRPr>
          </a:p>
        </p:txBody>
      </p:sp>
      <p:sp>
        <p:nvSpPr>
          <p:cNvPr id="8" name="Text Placeholder 7"/>
          <p:cNvSpPr>
            <a:spLocks noGrp="1"/>
          </p:cNvSpPr>
          <p:nvPr>
            <p:ph type="body" sz="quarter" idx="13"/>
          </p:nvPr>
        </p:nvSpPr>
        <p:spPr>
          <a:xfrm>
            <a:off x="457200" y="4214813"/>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7"/>
          <p:cNvSpPr>
            <a:spLocks noGrp="1"/>
          </p:cNvSpPr>
          <p:nvPr>
            <p:ph type="body" sz="quarter" idx="14"/>
          </p:nvPr>
        </p:nvSpPr>
        <p:spPr>
          <a:xfrm>
            <a:off x="457200" y="4664765"/>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7"/>
          <p:cNvSpPr>
            <a:spLocks noGrp="1"/>
          </p:cNvSpPr>
          <p:nvPr>
            <p:ph type="body" sz="quarter" idx="15"/>
          </p:nvPr>
        </p:nvSpPr>
        <p:spPr>
          <a:xfrm>
            <a:off x="457200" y="4539289"/>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7"/>
          <p:cNvSpPr>
            <a:spLocks noGrp="1"/>
          </p:cNvSpPr>
          <p:nvPr>
            <p:ph type="body" sz="quarter" idx="16"/>
          </p:nvPr>
        </p:nvSpPr>
        <p:spPr>
          <a:xfrm>
            <a:off x="457200" y="4328899"/>
            <a:ext cx="8037576" cy="449952"/>
          </a:xfrm>
        </p:spPr>
        <p:txBody>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457200" y="5367338"/>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15" name="Picture Placeholder 13"/>
          <p:cNvSpPr>
            <a:spLocks noGrp="1"/>
          </p:cNvSpPr>
          <p:nvPr>
            <p:ph type="pic" sz="quarter" idx="18"/>
          </p:nvPr>
        </p:nvSpPr>
        <p:spPr>
          <a:xfrm>
            <a:off x="2686050" y="5367338"/>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16" name="Picture Placeholder 13"/>
          <p:cNvSpPr>
            <a:spLocks noGrp="1"/>
          </p:cNvSpPr>
          <p:nvPr>
            <p:ph type="pic" sz="quarter" idx="19"/>
          </p:nvPr>
        </p:nvSpPr>
        <p:spPr>
          <a:xfrm>
            <a:off x="4914900" y="5377973"/>
            <a:ext cx="2228850" cy="436562"/>
          </a:xfrm>
        </p:spPr>
        <p:txBody>
          <a:bodyPr/>
          <a:lstStyle>
            <a:lvl1pPr marL="0" indent="0">
              <a:buNone/>
              <a:defRPr>
                <a:latin typeface="Arial" panose="020B0604020202020204" pitchFamily="34" charset="0"/>
                <a:cs typeface="Arial" panose="020B0604020202020204" pitchFamily="34" charset="0"/>
              </a:defRPr>
            </a:lvl1pPr>
          </a:lstStyle>
          <a:p>
            <a:endParaRPr lang="en-IN" dirty="0"/>
          </a:p>
        </p:txBody>
      </p:sp>
      <p:sp>
        <p:nvSpPr>
          <p:cNvPr id="9" name="Picture Placeholder 8"/>
          <p:cNvSpPr>
            <a:spLocks noGrp="1"/>
          </p:cNvSpPr>
          <p:nvPr>
            <p:ph type="pic" sz="quarter" idx="20"/>
          </p:nvPr>
        </p:nvSpPr>
        <p:spPr>
          <a:xfrm>
            <a:off x="1881188" y="1762125"/>
            <a:ext cx="1498600" cy="584200"/>
          </a:xfrm>
        </p:spPr>
        <p:txBody>
          <a:bodyPr/>
          <a:lstStyle/>
          <a:p>
            <a:endParaRPr lang="en-IN" dirty="0"/>
          </a:p>
        </p:txBody>
      </p:sp>
      <p:sp>
        <p:nvSpPr>
          <p:cNvPr id="18" name="Picture Placeholder 17"/>
          <p:cNvSpPr>
            <a:spLocks noGrp="1"/>
          </p:cNvSpPr>
          <p:nvPr>
            <p:ph type="pic" sz="quarter" idx="21"/>
          </p:nvPr>
        </p:nvSpPr>
        <p:spPr>
          <a:xfrm>
            <a:off x="4054475" y="1762125"/>
            <a:ext cx="1300163" cy="584200"/>
          </a:xfrm>
        </p:spPr>
        <p:txBody>
          <a:bodyPr/>
          <a:lstStyle/>
          <a:p>
            <a:endParaRPr lang="en-IN" dirty="0"/>
          </a:p>
        </p:txBody>
      </p:sp>
      <p:sp>
        <p:nvSpPr>
          <p:cNvPr id="20" name="Picture Placeholder 19"/>
          <p:cNvSpPr>
            <a:spLocks noGrp="1"/>
          </p:cNvSpPr>
          <p:nvPr>
            <p:ph type="pic" sz="quarter" idx="22"/>
          </p:nvPr>
        </p:nvSpPr>
        <p:spPr>
          <a:xfrm>
            <a:off x="6003925" y="1762125"/>
            <a:ext cx="1139825" cy="584200"/>
          </a:xfrm>
        </p:spPr>
        <p:txBody>
          <a:bodyPr/>
          <a:lstStyle/>
          <a:p>
            <a:endParaRPr lang="en-IN" dirty="0"/>
          </a:p>
        </p:txBody>
      </p:sp>
    </p:spTree>
    <p:extLst>
      <p:ext uri="{BB962C8B-B14F-4D97-AF65-F5344CB8AC3E}">
        <p14:creationId xmlns:p14="http://schemas.microsoft.com/office/powerpoint/2010/main" val="3718531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6" name="Picture 4"/>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90500" y="387280"/>
            <a:ext cx="87630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56615" y="192024"/>
            <a:ext cx="8430768" cy="1143000"/>
          </a:xfrm>
        </p:spPr>
        <p:txBody>
          <a:bodyPr>
            <a:normAutofit/>
          </a:bodyPr>
          <a:lstStyle>
            <a:lvl1pPr>
              <a:defRPr sz="4000">
                <a:solidFill>
                  <a:schemeClr val="bg1"/>
                </a:solidFill>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EFA3A666-AD7C-41F4-8846-1EF5924D4CDA}" type="datetime1">
              <a:rPr lang="en-IN" smtClean="0"/>
              <a:t>22/02/26</a:t>
            </a:fld>
            <a:endParaRPr lang="en-IN" dirty="0"/>
          </a:p>
        </p:txBody>
      </p:sp>
      <p:sp>
        <p:nvSpPr>
          <p:cNvPr id="4" name="Footer Placeholder 3"/>
          <p:cNvSpPr>
            <a:spLocks noGrp="1"/>
          </p:cNvSpPr>
          <p:nvPr>
            <p:ph type="ftr" sz="quarter" idx="11"/>
          </p:nvPr>
        </p:nvSpPr>
        <p:spPr/>
        <p:txBody>
          <a:bodyPr/>
          <a:lstStyle/>
          <a:p>
            <a:r>
              <a:rPr lang="en-IN" dirty="0"/>
              <a:t>Copyright © Cengage Learning. All rights reserved. </a:t>
            </a:r>
          </a:p>
        </p:txBody>
      </p:sp>
      <p:sp>
        <p:nvSpPr>
          <p:cNvPr id="5" name="Slide Number Placeholder 4"/>
          <p:cNvSpPr>
            <a:spLocks noGrp="1"/>
          </p:cNvSpPr>
          <p:nvPr>
            <p:ph type="sldNum" sz="quarter" idx="12"/>
          </p:nvPr>
        </p:nvSpPr>
        <p:spPr/>
        <p:txBody>
          <a:bodyPr/>
          <a:lstStyle/>
          <a:p>
            <a:fld id="{A87FF525-DAB2-4BDC-A82F-1466554F68BC}" type="slidenum">
              <a:rPr lang="en-IN" smtClean="0"/>
              <a:t>‹#›</a:t>
            </a:fld>
            <a:endParaRPr lang="en-IN" dirty="0"/>
          </a:p>
        </p:txBody>
      </p:sp>
      <p:sp>
        <p:nvSpPr>
          <p:cNvPr id="8" name="Text Placeholder 7"/>
          <p:cNvSpPr>
            <a:spLocks noGrp="1"/>
          </p:cNvSpPr>
          <p:nvPr>
            <p:ph type="body" sz="quarter" idx="13"/>
          </p:nvPr>
        </p:nvSpPr>
        <p:spPr>
          <a:xfrm>
            <a:off x="457200" y="144475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Slide Number Placeholder 3"/>
          <p:cNvSpPr txBox="1">
            <a:spLocks/>
          </p:cNvSpPr>
          <p:nvPr userDrawn="1"/>
        </p:nvSpPr>
        <p:spPr>
          <a:xfrm>
            <a:off x="8494776" y="6391656"/>
            <a:ext cx="649224" cy="365125"/>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1CAA2A77-17DC-4CE3-AB44-4B0BB14D7176}" type="slidenum">
              <a:rPr lang="en-IN" smtClean="0">
                <a:solidFill>
                  <a:srgbClr val="000000"/>
                </a:solidFill>
                <a:latin typeface="Arial" panose="020B0604020202020204" pitchFamily="34" charset="0"/>
                <a:cs typeface="Arial" panose="020B0604020202020204" pitchFamily="34" charset="0"/>
              </a:rPr>
              <a:pPr/>
              <a:t>‹#›</a:t>
            </a:fld>
            <a:endParaRPr lang="en-IN" dirty="0">
              <a:solidFill>
                <a:srgbClr val="000000"/>
              </a:solidFill>
              <a:latin typeface="Arial" panose="020B0604020202020204" pitchFamily="34" charset="0"/>
              <a:cs typeface="Arial" panose="020B0604020202020204" pitchFamily="34" charset="0"/>
            </a:endParaRPr>
          </a:p>
        </p:txBody>
      </p:sp>
      <p:sp>
        <p:nvSpPr>
          <p:cNvPr id="12" name="Text Placeholder 7"/>
          <p:cNvSpPr>
            <a:spLocks noGrp="1"/>
          </p:cNvSpPr>
          <p:nvPr>
            <p:ph type="body" sz="quarter" idx="14"/>
          </p:nvPr>
        </p:nvSpPr>
        <p:spPr>
          <a:xfrm>
            <a:off x="470174" y="2144074"/>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7"/>
          <p:cNvSpPr>
            <a:spLocks noGrp="1"/>
          </p:cNvSpPr>
          <p:nvPr>
            <p:ph type="body" sz="quarter" idx="15"/>
          </p:nvPr>
        </p:nvSpPr>
        <p:spPr>
          <a:xfrm>
            <a:off x="470174" y="2727927"/>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Text Placeholder 7"/>
          <p:cNvSpPr>
            <a:spLocks noGrp="1"/>
          </p:cNvSpPr>
          <p:nvPr>
            <p:ph type="body" sz="quarter" idx="16"/>
          </p:nvPr>
        </p:nvSpPr>
        <p:spPr>
          <a:xfrm>
            <a:off x="470174" y="3355310"/>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Text Placeholder 7"/>
          <p:cNvSpPr>
            <a:spLocks noGrp="1"/>
          </p:cNvSpPr>
          <p:nvPr>
            <p:ph type="body" sz="quarter" idx="17"/>
          </p:nvPr>
        </p:nvSpPr>
        <p:spPr>
          <a:xfrm>
            <a:off x="470174" y="3966050"/>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Text Placeholder 7"/>
          <p:cNvSpPr>
            <a:spLocks noGrp="1"/>
          </p:cNvSpPr>
          <p:nvPr>
            <p:ph type="body" sz="quarter" idx="18"/>
          </p:nvPr>
        </p:nvSpPr>
        <p:spPr>
          <a:xfrm>
            <a:off x="470174" y="459343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7"/>
          <p:cNvSpPr>
            <a:spLocks noGrp="1"/>
          </p:cNvSpPr>
          <p:nvPr>
            <p:ph type="body" sz="quarter" idx="19"/>
          </p:nvPr>
        </p:nvSpPr>
        <p:spPr>
          <a:xfrm>
            <a:off x="470174" y="4878605"/>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7"/>
          <p:cNvSpPr>
            <a:spLocks noGrp="1"/>
          </p:cNvSpPr>
          <p:nvPr>
            <p:ph type="body" sz="quarter" idx="20"/>
          </p:nvPr>
        </p:nvSpPr>
        <p:spPr>
          <a:xfrm>
            <a:off x="470174" y="5505988"/>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Text Placeholder 7"/>
          <p:cNvSpPr>
            <a:spLocks noGrp="1"/>
          </p:cNvSpPr>
          <p:nvPr>
            <p:ph type="body" sz="quarter" idx="21"/>
          </p:nvPr>
        </p:nvSpPr>
        <p:spPr>
          <a:xfrm>
            <a:off x="457200" y="3982693"/>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7"/>
          <p:cNvSpPr>
            <a:spLocks noGrp="1"/>
          </p:cNvSpPr>
          <p:nvPr>
            <p:ph type="body" sz="quarter" idx="22"/>
          </p:nvPr>
        </p:nvSpPr>
        <p:spPr>
          <a:xfrm>
            <a:off x="457200" y="4610076"/>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7"/>
          <p:cNvSpPr>
            <a:spLocks noGrp="1"/>
          </p:cNvSpPr>
          <p:nvPr>
            <p:ph type="body" sz="quarter" idx="23"/>
          </p:nvPr>
        </p:nvSpPr>
        <p:spPr>
          <a:xfrm>
            <a:off x="457200" y="4895248"/>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7"/>
          <p:cNvSpPr>
            <a:spLocks noGrp="1"/>
          </p:cNvSpPr>
          <p:nvPr>
            <p:ph type="body" sz="quarter" idx="24"/>
          </p:nvPr>
        </p:nvSpPr>
        <p:spPr>
          <a:xfrm>
            <a:off x="457200" y="5522631"/>
            <a:ext cx="8335962" cy="516569"/>
          </a:xfrm>
        </p:spPr>
        <p:txBody>
          <a:bodyPr>
            <a:noAutofit/>
          </a:bodyPr>
          <a:lstStyle>
            <a:lvl1pPr marL="0" indent="0">
              <a:lnSpc>
                <a:spcPct val="100000"/>
              </a:lnSpc>
              <a:buNone/>
              <a:defRPr sz="2400">
                <a:latin typeface="Arial" panose="020B0604020202020204" pitchFamily="34" charset="0"/>
                <a:cs typeface="Arial" panose="020B0604020202020204" pitchFamily="34" charset="0"/>
              </a:defRPr>
            </a:lvl1pPr>
            <a:lvl2pPr>
              <a:lnSpc>
                <a:spcPct val="100000"/>
              </a:lnSpc>
              <a:defRPr sz="2400">
                <a:latin typeface="Arial" panose="020B0604020202020204" pitchFamily="34" charset="0"/>
                <a:cs typeface="Arial" panose="020B0604020202020204" pitchFamily="34" charset="0"/>
              </a:defRPr>
            </a:lvl2pPr>
            <a:lvl3pPr>
              <a:lnSpc>
                <a:spcPct val="100000"/>
              </a:lnSpc>
              <a:defRPr sz="2400">
                <a:latin typeface="Arial" panose="020B0604020202020204" pitchFamily="34" charset="0"/>
                <a:cs typeface="Arial" panose="020B0604020202020204" pitchFamily="34" charset="0"/>
              </a:defRPr>
            </a:lvl3pPr>
            <a:lvl4pPr>
              <a:lnSpc>
                <a:spcPct val="100000"/>
              </a:lnSpc>
              <a:defRPr sz="2400">
                <a:latin typeface="Arial" panose="020B0604020202020204" pitchFamily="34" charset="0"/>
                <a:cs typeface="Arial" panose="020B0604020202020204" pitchFamily="34" charset="0"/>
              </a:defRPr>
            </a:lvl4pPr>
            <a:lvl5pPr>
              <a:lnSpc>
                <a:spcPct val="100000"/>
              </a:lnSpc>
              <a:defRPr sz="2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able Placeholder 8"/>
          <p:cNvSpPr>
            <a:spLocks noGrp="1"/>
          </p:cNvSpPr>
          <p:nvPr>
            <p:ph type="tbl" sz="quarter" idx="25"/>
          </p:nvPr>
        </p:nvSpPr>
        <p:spPr>
          <a:xfrm>
            <a:off x="477076" y="3048000"/>
            <a:ext cx="8342312" cy="1908175"/>
          </a:xfrm>
        </p:spPr>
        <p:txBody>
          <a:bodyPr/>
          <a:lstStyle/>
          <a:p>
            <a:endParaRPr lang="en-IN" dirty="0"/>
          </a:p>
        </p:txBody>
      </p:sp>
      <p:sp>
        <p:nvSpPr>
          <p:cNvPr id="25" name="Table Placeholder 24"/>
          <p:cNvSpPr>
            <a:spLocks noGrp="1"/>
          </p:cNvSpPr>
          <p:nvPr>
            <p:ph type="tbl" sz="quarter" idx="26"/>
          </p:nvPr>
        </p:nvSpPr>
        <p:spPr>
          <a:xfrm>
            <a:off x="476665" y="3989388"/>
            <a:ext cx="8277225" cy="2106612"/>
          </a:xfrm>
        </p:spPr>
        <p:txBody>
          <a:bodyPr/>
          <a:lstStyle/>
          <a:p>
            <a:endParaRPr lang="en-IN" dirty="0"/>
          </a:p>
        </p:txBody>
      </p:sp>
      <p:sp>
        <p:nvSpPr>
          <p:cNvPr id="27" name="Picture Placeholder 26"/>
          <p:cNvSpPr>
            <a:spLocks noGrp="1"/>
          </p:cNvSpPr>
          <p:nvPr>
            <p:ph type="pic" sz="quarter" idx="27"/>
          </p:nvPr>
        </p:nvSpPr>
        <p:spPr>
          <a:xfrm>
            <a:off x="4916488" y="145732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28" name="Picture Placeholder 26"/>
          <p:cNvSpPr>
            <a:spLocks noGrp="1"/>
          </p:cNvSpPr>
          <p:nvPr>
            <p:ph type="pic" sz="quarter" idx="28"/>
          </p:nvPr>
        </p:nvSpPr>
        <p:spPr>
          <a:xfrm>
            <a:off x="4915726" y="4763743"/>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29" name="Picture Placeholder 26"/>
          <p:cNvSpPr>
            <a:spLocks noGrp="1"/>
          </p:cNvSpPr>
          <p:nvPr>
            <p:ph type="pic" sz="quarter" idx="29"/>
          </p:nvPr>
        </p:nvSpPr>
        <p:spPr>
          <a:xfrm>
            <a:off x="4915726" y="2908438"/>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0" name="Picture Placeholder 26"/>
          <p:cNvSpPr>
            <a:spLocks noGrp="1"/>
          </p:cNvSpPr>
          <p:nvPr>
            <p:ph type="pic" sz="quarter" idx="30"/>
          </p:nvPr>
        </p:nvSpPr>
        <p:spPr>
          <a:xfrm>
            <a:off x="4915726" y="3637308"/>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1" name="Picture Placeholder 26"/>
          <p:cNvSpPr>
            <a:spLocks noGrp="1"/>
          </p:cNvSpPr>
          <p:nvPr>
            <p:ph type="pic" sz="quarter" idx="31"/>
          </p:nvPr>
        </p:nvSpPr>
        <p:spPr>
          <a:xfrm>
            <a:off x="4915726" y="4392682"/>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2" name="Picture Placeholder 26"/>
          <p:cNvSpPr>
            <a:spLocks noGrp="1"/>
          </p:cNvSpPr>
          <p:nvPr>
            <p:ph type="pic" sz="quarter" idx="32"/>
          </p:nvPr>
        </p:nvSpPr>
        <p:spPr>
          <a:xfrm>
            <a:off x="4915726" y="5148056"/>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3" name="Picture Placeholder 26"/>
          <p:cNvSpPr>
            <a:spLocks noGrp="1"/>
          </p:cNvSpPr>
          <p:nvPr>
            <p:ph type="pic" sz="quarter" idx="33"/>
          </p:nvPr>
        </p:nvSpPr>
        <p:spPr>
          <a:xfrm>
            <a:off x="4915726" y="2179569"/>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4" name="Picture Placeholder 26"/>
          <p:cNvSpPr>
            <a:spLocks noGrp="1"/>
          </p:cNvSpPr>
          <p:nvPr>
            <p:ph type="pic" sz="quarter" idx="34"/>
          </p:nvPr>
        </p:nvSpPr>
        <p:spPr>
          <a:xfrm>
            <a:off x="4915726" y="352466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5" name="Picture Placeholder 26"/>
          <p:cNvSpPr>
            <a:spLocks noGrp="1"/>
          </p:cNvSpPr>
          <p:nvPr>
            <p:ph type="pic" sz="quarter" idx="35"/>
          </p:nvPr>
        </p:nvSpPr>
        <p:spPr>
          <a:xfrm>
            <a:off x="4915726" y="227896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6" name="Picture Placeholder 26"/>
          <p:cNvSpPr>
            <a:spLocks noGrp="1"/>
          </p:cNvSpPr>
          <p:nvPr>
            <p:ph type="pic" sz="quarter" idx="36"/>
          </p:nvPr>
        </p:nvSpPr>
        <p:spPr>
          <a:xfrm>
            <a:off x="4915726" y="3895726"/>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7" name="Picture Placeholder 26"/>
          <p:cNvSpPr>
            <a:spLocks noGrp="1"/>
          </p:cNvSpPr>
          <p:nvPr>
            <p:ph type="pic" sz="quarter" idx="37"/>
          </p:nvPr>
        </p:nvSpPr>
        <p:spPr>
          <a:xfrm>
            <a:off x="4915726" y="185489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8" name="Picture Placeholder 26"/>
          <p:cNvSpPr>
            <a:spLocks noGrp="1"/>
          </p:cNvSpPr>
          <p:nvPr>
            <p:ph type="pic" sz="quarter" idx="38"/>
          </p:nvPr>
        </p:nvSpPr>
        <p:spPr>
          <a:xfrm>
            <a:off x="4915726" y="2530751"/>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39" name="Picture Placeholder 26"/>
          <p:cNvSpPr>
            <a:spLocks noGrp="1"/>
          </p:cNvSpPr>
          <p:nvPr>
            <p:ph type="pic" sz="quarter" idx="39"/>
          </p:nvPr>
        </p:nvSpPr>
        <p:spPr>
          <a:xfrm>
            <a:off x="4915726" y="3100595"/>
            <a:ext cx="3903662" cy="663023"/>
          </a:xfrm>
        </p:spPr>
        <p:txBody>
          <a:bodyPr>
            <a:normAutofit/>
          </a:bodyPr>
          <a:lstStyle>
            <a:lvl1pPr marL="0" indent="0">
              <a:buNone/>
              <a:defRPr sz="2400">
                <a:latin typeface="Arial" panose="020B0604020202020204" pitchFamily="34" charset="0"/>
                <a:cs typeface="Arial" panose="020B0604020202020204" pitchFamily="34" charset="0"/>
              </a:defRPr>
            </a:lvl1pPr>
          </a:lstStyle>
          <a:p>
            <a:endParaRPr lang="en-IN" dirty="0"/>
          </a:p>
        </p:txBody>
      </p:sp>
      <p:sp>
        <p:nvSpPr>
          <p:cNvPr id="40" name="Table Placeholder 8"/>
          <p:cNvSpPr>
            <a:spLocks noGrp="1"/>
          </p:cNvSpPr>
          <p:nvPr>
            <p:ph type="tbl" sz="quarter" idx="40"/>
          </p:nvPr>
        </p:nvSpPr>
        <p:spPr>
          <a:xfrm>
            <a:off x="629476" y="3200400"/>
            <a:ext cx="8342312" cy="1908175"/>
          </a:xfrm>
        </p:spPr>
        <p:txBody>
          <a:bodyPr/>
          <a:lstStyle/>
          <a:p>
            <a:endParaRPr lang="en-IN" dirty="0"/>
          </a:p>
        </p:txBody>
      </p:sp>
      <p:sp>
        <p:nvSpPr>
          <p:cNvPr id="41" name="Table Placeholder 8"/>
          <p:cNvSpPr>
            <a:spLocks noGrp="1"/>
          </p:cNvSpPr>
          <p:nvPr>
            <p:ph type="tbl" sz="quarter" idx="41"/>
          </p:nvPr>
        </p:nvSpPr>
        <p:spPr>
          <a:xfrm>
            <a:off x="781876" y="3352800"/>
            <a:ext cx="8342312" cy="1908175"/>
          </a:xfrm>
        </p:spPr>
        <p:txBody>
          <a:bodyPr/>
          <a:lstStyle/>
          <a:p>
            <a:endParaRPr lang="en-IN" dirty="0"/>
          </a:p>
        </p:txBody>
      </p:sp>
      <p:sp>
        <p:nvSpPr>
          <p:cNvPr id="42" name="Table Placeholder 8"/>
          <p:cNvSpPr>
            <a:spLocks noGrp="1"/>
          </p:cNvSpPr>
          <p:nvPr>
            <p:ph type="tbl" sz="quarter" idx="42"/>
          </p:nvPr>
        </p:nvSpPr>
        <p:spPr>
          <a:xfrm>
            <a:off x="934276" y="4843670"/>
            <a:ext cx="7342621" cy="1058443"/>
          </a:xfrm>
        </p:spPr>
        <p:txBody>
          <a:bodyPr/>
          <a:lstStyle/>
          <a:p>
            <a:endParaRPr lang="en-IN" dirty="0"/>
          </a:p>
        </p:txBody>
      </p:sp>
    </p:spTree>
    <p:extLst>
      <p:ext uri="{BB962C8B-B14F-4D97-AF65-F5344CB8AC3E}">
        <p14:creationId xmlns:p14="http://schemas.microsoft.com/office/powerpoint/2010/main" val="2325508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ED9B31-A185-4214-8EBD-9F056A2E125F}" type="datetime1">
              <a:rPr lang="en-IN" smtClean="0"/>
              <a:t>22/02/26</a:t>
            </a:fld>
            <a:endParaRPr lang="en-IN"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Copyright © Cengage Learning. All rights reserved.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FF525-DAB2-4BDC-A82F-1466554F68BC}" type="slidenum">
              <a:rPr lang="en-IN" smtClean="0"/>
              <a:t>‹#›</a:t>
            </a:fld>
            <a:endParaRPr lang="en-IN" dirty="0"/>
          </a:p>
        </p:txBody>
      </p:sp>
    </p:spTree>
    <p:extLst>
      <p:ext uri="{BB962C8B-B14F-4D97-AF65-F5344CB8AC3E}">
        <p14:creationId xmlns:p14="http://schemas.microsoft.com/office/powerpoint/2010/main" val="1373062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7" r:id="rId14"/>
    <p:sldLayoutId id="2147483674"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1</a:t>
            </a:r>
            <a:endParaRPr lang="en-IN" dirty="0"/>
          </a:p>
        </p:txBody>
      </p:sp>
      <p:sp>
        <p:nvSpPr>
          <p:cNvPr id="6" name="Text Placeholder 2"/>
          <p:cNvSpPr>
            <a:spLocks noGrp="1"/>
          </p:cNvSpPr>
          <p:nvPr>
            <p:ph type="body" sz="quarter" idx="13"/>
          </p:nvPr>
        </p:nvSpPr>
        <p:spPr>
          <a:xfrm>
            <a:off x="1996226" y="394404"/>
            <a:ext cx="6970642" cy="900229"/>
          </a:xfrm>
        </p:spPr>
        <p:txBody>
          <a:bodyPr>
            <a:noAutofit/>
          </a:bodyPr>
          <a:lstStyle/>
          <a:p>
            <a:r>
              <a:rPr lang="en-IN" sz="3800" dirty="0">
                <a:solidFill>
                  <a:srgbClr val="2075AE"/>
                </a:solidFill>
              </a:rPr>
              <a:t>Systems of Linear Equations</a:t>
            </a:r>
          </a:p>
        </p:txBody>
      </p:sp>
      <p:sp>
        <p:nvSpPr>
          <p:cNvPr id="10" name="Footer Placeholder 6"/>
          <p:cNvSpPr>
            <a:spLocks noGrp="1"/>
          </p:cNvSpPr>
          <p:nvPr>
            <p:ph type="ftr" sz="quarter" idx="15"/>
          </p:nvPr>
        </p:nvSpPr>
        <p:spPr>
          <a:xfrm>
            <a:off x="2159747" y="6352429"/>
            <a:ext cx="4744830" cy="365125"/>
          </a:xfrm>
        </p:spPr>
        <p:txBody>
          <a:bodyPr/>
          <a:lstStyle/>
          <a:p>
            <a:r>
              <a:rPr lang="en-IN" dirty="0"/>
              <a:t>Copyright © Cengage Learning. All rights reserved. </a:t>
            </a:r>
          </a:p>
        </p:txBody>
      </p:sp>
    </p:spTree>
    <p:extLst>
      <p:ext uri="{BB962C8B-B14F-4D97-AF65-F5344CB8AC3E}">
        <p14:creationId xmlns:p14="http://schemas.microsoft.com/office/powerpoint/2010/main" val="1937565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a:t>
            </a:r>
            <a:endParaRPr lang="en-IN" dirty="0"/>
          </a:p>
        </p:txBody>
      </p:sp>
      <p:sp>
        <p:nvSpPr>
          <p:cNvPr id="3" name="Text Placeholder 2"/>
          <p:cNvSpPr>
            <a:spLocks noGrp="1"/>
          </p:cNvSpPr>
          <p:nvPr>
            <p:ph type="body" sz="quarter" idx="13"/>
          </p:nvPr>
        </p:nvSpPr>
        <p:spPr>
          <a:xfrm>
            <a:off x="1789053" y="2459736"/>
            <a:ext cx="6811608" cy="1444752"/>
          </a:xfrm>
        </p:spPr>
        <p:txBody>
          <a:bodyPr>
            <a:normAutofit/>
          </a:bodyPr>
          <a:lstStyle/>
          <a:p>
            <a:r>
              <a:rPr lang="en-IN" dirty="0"/>
              <a:t>Gaussian Elimination and Gauss-Jordan Elimination</a:t>
            </a:r>
            <a:endParaRPr lang="en-US" dirty="0"/>
          </a:p>
        </p:txBody>
      </p:sp>
    </p:spTree>
    <p:extLst>
      <p:ext uri="{BB962C8B-B14F-4D97-AF65-F5344CB8AC3E}">
        <p14:creationId xmlns:p14="http://schemas.microsoft.com/office/powerpoint/2010/main" val="1195046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Objectives</a:t>
            </a:r>
            <a:endParaRPr lang="en-IN" dirty="0"/>
          </a:p>
        </p:txBody>
      </p:sp>
      <p:sp>
        <p:nvSpPr>
          <p:cNvPr id="3" name="Text Placeholder 2"/>
          <p:cNvSpPr>
            <a:spLocks noGrp="1"/>
          </p:cNvSpPr>
          <p:nvPr>
            <p:ph type="body" sz="quarter" idx="13"/>
          </p:nvPr>
        </p:nvSpPr>
        <p:spPr>
          <a:xfrm>
            <a:off x="457199" y="1444753"/>
            <a:ext cx="8410575" cy="4908422"/>
          </a:xfrm>
        </p:spPr>
        <p:txBody>
          <a:bodyPr/>
          <a:lstStyle/>
          <a:p>
            <a:pPr marL="342900" indent="-342900">
              <a:buClr>
                <a:srgbClr val="7F4520"/>
              </a:buClr>
              <a:buFont typeface="Wingdings" panose="05000000000000000000" pitchFamily="2" charset="2"/>
              <a:buChar char="§"/>
            </a:pPr>
            <a:r>
              <a:rPr lang="en-IN" sz="2800" dirty="0"/>
              <a:t>Determine the size of a matrix and write an augmented or coefficient matrix from a system of linear equations.</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Use matrices and Gaussian elimination with back-substitution to solve a system of linear equations.</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Use matrices and Gauss-Jordan elimination to solve a system of linear equations.</a:t>
            </a:r>
          </a:p>
          <a:p>
            <a:pPr marL="342900" indent="-342900">
              <a:buClr>
                <a:srgbClr val="7F4520"/>
              </a:buClr>
              <a:buFont typeface="Wingdings" panose="05000000000000000000" pitchFamily="2" charset="2"/>
              <a:buChar char="§"/>
            </a:pPr>
            <a:endParaRPr lang="en-IN" sz="1200" dirty="0"/>
          </a:p>
          <a:p>
            <a:pPr marL="342900" indent="-342900">
              <a:buClr>
                <a:srgbClr val="7F4520"/>
              </a:buClr>
              <a:buFont typeface="Wingdings" panose="05000000000000000000" pitchFamily="2" charset="2"/>
              <a:buChar char="§"/>
            </a:pPr>
            <a:r>
              <a:rPr lang="en-IN" sz="2800" dirty="0"/>
              <a:t>Solve a homogeneous system of linear equations.</a:t>
            </a:r>
          </a:p>
        </p:txBody>
      </p:sp>
    </p:spTree>
    <p:extLst>
      <p:ext uri="{BB962C8B-B14F-4D97-AF65-F5344CB8AC3E}">
        <p14:creationId xmlns:p14="http://schemas.microsoft.com/office/powerpoint/2010/main" val="106603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Matrices</a:t>
            </a:r>
          </a:p>
        </p:txBody>
      </p:sp>
    </p:spTree>
    <p:extLst>
      <p:ext uri="{BB962C8B-B14F-4D97-AF65-F5344CB8AC3E}">
        <p14:creationId xmlns:p14="http://schemas.microsoft.com/office/powerpoint/2010/main" val="231152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Matrices </a:t>
            </a:r>
            <a:r>
              <a:rPr lang="en-US" dirty="0"/>
              <a:t>(1 of 3)</a:t>
            </a:r>
            <a:endParaRPr lang="en-IN" dirty="0"/>
          </a:p>
        </p:txBody>
      </p:sp>
      <p:sp>
        <p:nvSpPr>
          <p:cNvPr id="4" name="Text Placeholder 2"/>
          <p:cNvSpPr>
            <a:spLocks noGrp="1"/>
          </p:cNvSpPr>
          <p:nvPr>
            <p:ph type="body" sz="quarter" idx="13"/>
          </p:nvPr>
        </p:nvSpPr>
        <p:spPr>
          <a:xfrm>
            <a:off x="457200" y="1444752"/>
            <a:ext cx="8095131" cy="4641723"/>
          </a:xfrm>
          <a:ln w="28575">
            <a:solidFill>
              <a:srgbClr val="7F4520"/>
            </a:solidFill>
          </a:ln>
        </p:spPr>
        <p:txBody>
          <a:bodyPr/>
          <a:lstStyle/>
          <a:p>
            <a:r>
              <a:rPr lang="en-IN" b="1" dirty="0">
                <a:solidFill>
                  <a:srgbClr val="7F4520"/>
                </a:solidFill>
              </a:rPr>
              <a:t>Definition of a Matrix</a:t>
            </a:r>
          </a:p>
          <a:p>
            <a:r>
              <a:rPr lang="en-IN" dirty="0"/>
              <a:t>If </a:t>
            </a:r>
            <a:r>
              <a:rPr lang="en-IN" i="1" dirty="0"/>
              <a:t>m</a:t>
            </a:r>
            <a:r>
              <a:rPr lang="en-IN" dirty="0"/>
              <a:t> and </a:t>
            </a:r>
            <a:r>
              <a:rPr lang="en-IN" i="1" dirty="0"/>
              <a:t>n</a:t>
            </a:r>
            <a:r>
              <a:rPr lang="en-IN" dirty="0"/>
              <a:t> are positive integers, then an </a:t>
            </a:r>
            <a:r>
              <a:rPr lang="en-IN" i="1" dirty="0"/>
              <a:t>m</a:t>
            </a:r>
            <a:r>
              <a:rPr lang="en-IN" dirty="0"/>
              <a:t> × </a:t>
            </a:r>
            <a:r>
              <a:rPr lang="en-IN" i="1" dirty="0"/>
              <a:t>n</a:t>
            </a:r>
            <a:r>
              <a:rPr lang="en-IN" dirty="0"/>
              <a:t> (read “</a:t>
            </a:r>
            <a:r>
              <a:rPr lang="en-IN" i="1" dirty="0"/>
              <a:t>m</a:t>
            </a:r>
            <a:r>
              <a:rPr lang="en-IN" dirty="0"/>
              <a:t> by </a:t>
            </a:r>
            <a:r>
              <a:rPr lang="en-IN" i="1" dirty="0"/>
              <a:t>n</a:t>
            </a:r>
            <a:r>
              <a:rPr lang="en-IN" dirty="0"/>
              <a:t>”) matrix is a rectangular array</a:t>
            </a:r>
            <a:r>
              <a:rPr lang="pt-BR" i="1" dirty="0"/>
              <a:t>		</a:t>
            </a:r>
            <a:endParaRPr lang="en-IN" dirty="0"/>
          </a:p>
        </p:txBody>
      </p:sp>
      <p:pic>
        <p:nvPicPr>
          <p:cNvPr id="1026" name="Picture 2" descr="A matrix with four rows and four columns. Matrix (4, 4, [a_11, a_12, a_13, …, a_1 n, a_21, a_22, a_23, …, a_2 n, a_31, a_32, a_33, …, a_3 n, a_m 1, a_m 2, a_m 3, …, a_m n]). On top of the matrix is column 1, column 2, column 3, …, column n. On the left side of the matrix is row 1, row 2, row 3, …, row m."/>
          <p:cNvPicPr>
            <a:picLocks noGrp="1" noChangeAspect="1" noChangeArrowheads="1"/>
          </p:cNvPicPr>
          <p:nvPr>
            <p:ph type="pic" sz="quarter" idx="27"/>
          </p:nvPr>
        </p:nvPicPr>
        <p:blipFill>
          <a:blip r:embed="rId2" cstate="print">
            <a:extLst>
              <a:ext uri="{28A0092B-C50C-407E-A947-70E740481C1C}">
                <a14:useLocalDpi xmlns:a14="http://schemas.microsoft.com/office/drawing/2010/main" val="0"/>
              </a:ext>
            </a:extLst>
          </a:blip>
          <a:stretch>
            <a:fillRect/>
          </a:stretch>
        </p:blipFill>
        <p:spPr bwMode="auto">
          <a:xfrm>
            <a:off x="1096219" y="3116561"/>
            <a:ext cx="6703278" cy="19941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2"/>
          <p:cNvSpPr>
            <a:spLocks noGrp="1"/>
          </p:cNvSpPr>
          <p:nvPr>
            <p:ph type="body" sz="quarter" idx="13"/>
          </p:nvPr>
        </p:nvSpPr>
        <p:spPr>
          <a:xfrm>
            <a:off x="457200" y="5416678"/>
            <a:ext cx="7364412" cy="517397"/>
          </a:xfrm>
        </p:spPr>
        <p:txBody>
          <a:bodyPr/>
          <a:lstStyle/>
          <a:p>
            <a:r>
              <a:rPr lang="en-IN" dirty="0"/>
              <a:t>in which each </a:t>
            </a:r>
            <a:r>
              <a:rPr lang="en-IN" b="1" dirty="0"/>
              <a:t>entry, </a:t>
            </a:r>
            <a:r>
              <a:rPr lang="en-IN" i="1" dirty="0"/>
              <a:t>a</a:t>
            </a:r>
            <a:r>
              <a:rPr lang="en-IN" sz="100" i="1" dirty="0"/>
              <a:t> </a:t>
            </a:r>
            <a:r>
              <a:rPr lang="en-IN" i="1" baseline="-25000" dirty="0"/>
              <a:t>i</a:t>
            </a:r>
            <a:r>
              <a:rPr lang="en-IN" sz="100" i="1" baseline="-25000" dirty="0"/>
              <a:t> </a:t>
            </a:r>
            <a:r>
              <a:rPr lang="en-IN" i="1" baseline="-25000" dirty="0"/>
              <a:t>j</a:t>
            </a:r>
            <a:r>
              <a:rPr lang="en-IN" dirty="0"/>
              <a:t>, of the matrix is a number.</a:t>
            </a:r>
          </a:p>
        </p:txBody>
      </p:sp>
    </p:spTree>
    <p:extLst>
      <p:ext uri="{BB962C8B-B14F-4D97-AF65-F5344CB8AC3E}">
        <p14:creationId xmlns:p14="http://schemas.microsoft.com/office/powerpoint/2010/main" val="3633377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6615" y="192024"/>
            <a:ext cx="8430768" cy="1143000"/>
          </a:xfrm>
        </p:spPr>
        <p:txBody>
          <a:bodyPr>
            <a:normAutofit/>
          </a:bodyPr>
          <a:lstStyle/>
          <a:p>
            <a:r>
              <a:rPr lang="en-IN" dirty="0"/>
              <a:t>Matrices </a:t>
            </a:r>
            <a:r>
              <a:rPr lang="en-US" dirty="0"/>
              <a:t>(2 of 3)</a:t>
            </a:r>
            <a:endParaRPr lang="en-IN" dirty="0"/>
          </a:p>
        </p:txBody>
      </p:sp>
      <p:sp>
        <p:nvSpPr>
          <p:cNvPr id="3" name="Text Placeholder 2"/>
          <p:cNvSpPr>
            <a:spLocks noGrp="1"/>
          </p:cNvSpPr>
          <p:nvPr>
            <p:ph type="body" sz="quarter" idx="13"/>
          </p:nvPr>
        </p:nvSpPr>
        <p:spPr>
          <a:xfrm>
            <a:off x="457200" y="1444752"/>
            <a:ext cx="8335962" cy="4365498"/>
          </a:xfrm>
        </p:spPr>
        <p:txBody>
          <a:bodyPr/>
          <a:lstStyle/>
          <a:p>
            <a:r>
              <a:rPr lang="en-IN" dirty="0"/>
              <a:t>The entry </a:t>
            </a:r>
            <a:r>
              <a:rPr lang="en-IN" i="1" dirty="0"/>
              <a:t>a</a:t>
            </a:r>
            <a:r>
              <a:rPr lang="en-IN" sz="100" i="1" dirty="0"/>
              <a:t> </a:t>
            </a:r>
            <a:r>
              <a:rPr lang="en-IN" i="1" baseline="-25000" dirty="0"/>
              <a:t>i</a:t>
            </a:r>
            <a:r>
              <a:rPr lang="en-IN" sz="100" i="1" baseline="-25000" dirty="0"/>
              <a:t> </a:t>
            </a:r>
            <a:r>
              <a:rPr lang="en-IN" i="1" baseline="-25000" dirty="0"/>
              <a:t>j</a:t>
            </a:r>
            <a:r>
              <a:rPr lang="en-IN" i="1" dirty="0"/>
              <a:t> </a:t>
            </a:r>
            <a:r>
              <a:rPr lang="en-IN" dirty="0"/>
              <a:t>is located in the </a:t>
            </a:r>
            <a:r>
              <a:rPr lang="en-IN" i="1" dirty="0"/>
              <a:t>i</a:t>
            </a:r>
            <a:r>
              <a:rPr lang="en-IN" sz="600" i="1" dirty="0"/>
              <a:t> </a:t>
            </a:r>
            <a:r>
              <a:rPr lang="en-IN" dirty="0"/>
              <a:t>th row and the </a:t>
            </a:r>
            <a:r>
              <a:rPr lang="en-IN" i="1" dirty="0"/>
              <a:t>j</a:t>
            </a:r>
            <a:r>
              <a:rPr lang="en-IN" sz="600" i="1" dirty="0"/>
              <a:t> </a:t>
            </a:r>
            <a:r>
              <a:rPr lang="en-IN" dirty="0"/>
              <a:t>th column. The index </a:t>
            </a:r>
            <a:r>
              <a:rPr lang="en-IN" i="1" dirty="0"/>
              <a:t>i </a:t>
            </a:r>
            <a:r>
              <a:rPr lang="en-IN" dirty="0"/>
              <a:t>is called the </a:t>
            </a:r>
            <a:r>
              <a:rPr lang="en-IN" b="1" dirty="0"/>
              <a:t>row subscript </a:t>
            </a:r>
            <a:r>
              <a:rPr lang="en-IN" dirty="0"/>
              <a:t>because it identifies the row in which the entry lies, and the index </a:t>
            </a:r>
            <a:r>
              <a:rPr lang="en-IN" i="1" dirty="0"/>
              <a:t>j </a:t>
            </a:r>
            <a:r>
              <a:rPr lang="en-IN" dirty="0"/>
              <a:t>is called the </a:t>
            </a:r>
            <a:r>
              <a:rPr lang="en-IN" b="1" dirty="0"/>
              <a:t>column subscript </a:t>
            </a:r>
            <a:r>
              <a:rPr lang="en-IN" dirty="0"/>
              <a:t>because it identifies the column in which the entry lies.</a:t>
            </a:r>
          </a:p>
          <a:p>
            <a:endParaRPr lang="en-IN" dirty="0"/>
          </a:p>
          <a:p>
            <a:r>
              <a:rPr lang="en-IN" dirty="0"/>
              <a:t>A matrix with </a:t>
            </a:r>
            <a:r>
              <a:rPr lang="en-IN" i="1" dirty="0"/>
              <a:t>m </a:t>
            </a:r>
            <a:r>
              <a:rPr lang="en-IN" dirty="0"/>
              <a:t>rows and </a:t>
            </a:r>
            <a:r>
              <a:rPr lang="en-IN" i="1" dirty="0"/>
              <a:t>n </a:t>
            </a:r>
            <a:r>
              <a:rPr lang="en-IN" dirty="0"/>
              <a:t>columns is of </a:t>
            </a:r>
            <a:r>
              <a:rPr lang="en-IN" b="1" dirty="0"/>
              <a:t>size </a:t>
            </a:r>
            <a:r>
              <a:rPr lang="en-IN" i="1" dirty="0"/>
              <a:t>m </a:t>
            </a:r>
            <a:r>
              <a:rPr lang="en-IN" dirty="0"/>
              <a:t>× </a:t>
            </a:r>
            <a:r>
              <a:rPr lang="en-IN" i="1" dirty="0"/>
              <a:t>n</a:t>
            </a:r>
            <a:r>
              <a:rPr lang="en-IN" dirty="0"/>
              <a:t>. When </a:t>
            </a:r>
            <a:r>
              <a:rPr lang="en-IN" i="1" dirty="0"/>
              <a:t>m </a:t>
            </a:r>
            <a:r>
              <a:rPr lang="en-IN" dirty="0"/>
              <a:t>= </a:t>
            </a:r>
            <a:r>
              <a:rPr lang="en-IN" i="1" dirty="0"/>
              <a:t>n</a:t>
            </a:r>
            <a:r>
              <a:rPr lang="en-IN" dirty="0"/>
              <a:t>, the matrix is </a:t>
            </a:r>
            <a:r>
              <a:rPr lang="en-IN" b="1" dirty="0"/>
              <a:t>square </a:t>
            </a:r>
            <a:r>
              <a:rPr lang="en-IN" dirty="0"/>
              <a:t>of </a:t>
            </a:r>
            <a:r>
              <a:rPr lang="en-IN" b="1" dirty="0"/>
              <a:t>order </a:t>
            </a:r>
            <a:r>
              <a:rPr lang="en-IN" i="1" dirty="0"/>
              <a:t>n </a:t>
            </a:r>
            <a:r>
              <a:rPr lang="en-IN" dirty="0"/>
              <a:t>and the entries </a:t>
            </a:r>
            <a:r>
              <a:rPr lang="en-IN" i="1" dirty="0"/>
              <a:t>a</a:t>
            </a:r>
            <a:r>
              <a:rPr lang="en-IN" baseline="-25000" dirty="0"/>
              <a:t>11</a:t>
            </a:r>
            <a:r>
              <a:rPr lang="en-IN" dirty="0"/>
              <a:t>, </a:t>
            </a:r>
            <a:r>
              <a:rPr lang="en-IN" i="1" dirty="0"/>
              <a:t>a</a:t>
            </a:r>
            <a:r>
              <a:rPr lang="en-IN" baseline="-25000" dirty="0"/>
              <a:t>22</a:t>
            </a:r>
            <a:r>
              <a:rPr lang="en-IN" dirty="0"/>
              <a:t>, </a:t>
            </a:r>
            <a:r>
              <a:rPr lang="en-IN" i="1" dirty="0"/>
              <a:t>a</a:t>
            </a:r>
            <a:r>
              <a:rPr lang="en-IN" baseline="-25000" dirty="0"/>
              <a:t>33</a:t>
            </a:r>
            <a:r>
              <a:rPr lang="en-IN" dirty="0"/>
              <a:t>, . . . , </a:t>
            </a:r>
            <a:r>
              <a:rPr lang="en-IN" i="1" dirty="0"/>
              <a:t>a</a:t>
            </a:r>
            <a:r>
              <a:rPr lang="en-IN" sz="100" i="1" dirty="0"/>
              <a:t> </a:t>
            </a:r>
            <a:r>
              <a:rPr lang="en-IN" i="1" baseline="-25000" dirty="0"/>
              <a:t>n</a:t>
            </a:r>
            <a:r>
              <a:rPr lang="en-IN" sz="100" i="1" baseline="-25000" dirty="0"/>
              <a:t> </a:t>
            </a:r>
            <a:r>
              <a:rPr lang="en-IN" i="1" baseline="-25000" dirty="0"/>
              <a:t>n</a:t>
            </a:r>
            <a:r>
              <a:rPr lang="en-IN" i="1" dirty="0"/>
              <a:t> </a:t>
            </a:r>
            <a:r>
              <a:rPr lang="en-IN" dirty="0"/>
              <a:t>are the </a:t>
            </a:r>
            <a:r>
              <a:rPr lang="en-IN" b="1" dirty="0"/>
              <a:t>main diagonal </a:t>
            </a:r>
            <a:r>
              <a:rPr lang="en-IN" dirty="0"/>
              <a:t>entries.</a:t>
            </a:r>
          </a:p>
        </p:txBody>
      </p:sp>
    </p:spTree>
    <p:extLst>
      <p:ext uri="{BB962C8B-B14F-4D97-AF65-F5344CB8AC3E}">
        <p14:creationId xmlns:p14="http://schemas.microsoft.com/office/powerpoint/2010/main" val="1424340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dirty="0"/>
              <a:t>Example 1 </a:t>
            </a:r>
            <a:r>
              <a:rPr lang="en-US" dirty="0"/>
              <a:t>– </a:t>
            </a:r>
            <a:r>
              <a:rPr lang="en-IN" dirty="0"/>
              <a:t>Sizes of Matrices</a:t>
            </a:r>
          </a:p>
        </p:txBody>
      </p:sp>
      <p:sp>
        <p:nvSpPr>
          <p:cNvPr id="3" name="Text Placeholder 2"/>
          <p:cNvSpPr>
            <a:spLocks noGrp="1"/>
          </p:cNvSpPr>
          <p:nvPr>
            <p:ph type="body" sz="quarter" idx="13"/>
          </p:nvPr>
        </p:nvSpPr>
        <p:spPr>
          <a:xfrm>
            <a:off x="457200" y="1444752"/>
            <a:ext cx="8335962" cy="565023"/>
          </a:xfrm>
        </p:spPr>
        <p:txBody>
          <a:bodyPr/>
          <a:lstStyle/>
          <a:p>
            <a:r>
              <a:rPr lang="en-IN" dirty="0"/>
              <a:t>Each matrix has the indicated size.</a:t>
            </a:r>
          </a:p>
          <a:p>
            <a:endParaRPr lang="en-IN" b="1" dirty="0">
              <a:solidFill>
                <a:srgbClr val="207BB8"/>
              </a:solidFill>
            </a:endParaRPr>
          </a:p>
        </p:txBody>
      </p:sp>
      <p:pic>
        <p:nvPicPr>
          <p:cNvPr id="3074" name="Picture 2" descr="(Item a). matrix(1,1, [2]) (Caption). Size: 1 by 1"/>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725489" y="2263207"/>
            <a:ext cx="2219325"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descr="(Item b). matrix(2, 2, [0, 0, 0, 0]) (Caption). Size: 2 by 2"/>
          <p:cNvPicPr>
            <a:picLocks noGrp="1" noChangeAspect="1" noChangeArrowheads="1"/>
          </p:cNvPicPr>
          <p:nvPr>
            <p:ph type="pic" sz="quarter" idx="27"/>
          </p:nvPr>
        </p:nvPicPr>
        <p:blipFill>
          <a:blip r:embed="rId3">
            <a:extLst>
              <a:ext uri="{28A0092B-C50C-407E-A947-70E740481C1C}">
                <a14:useLocalDpi xmlns:a14="http://schemas.microsoft.com/office/drawing/2010/main" val="0"/>
              </a:ext>
            </a:extLst>
          </a:blip>
          <a:stretch>
            <a:fillRect/>
          </a:stretch>
        </p:blipFill>
        <p:spPr bwMode="auto">
          <a:xfrm>
            <a:off x="658813" y="3109443"/>
            <a:ext cx="2967038" cy="795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descr="(Item c). matrix(2, 3, [e, 2, negative 7, pi, sqrt(2), 4]) (Caption.) Size: 2 by 3"/>
          <p:cNvPicPr>
            <a:picLocks noGrp="1" noChangeAspect="1" noChangeArrowheads="1"/>
          </p:cNvPicPr>
          <p:nvPr>
            <p:ph type="pic" sz="quarter" idx="27"/>
          </p:nvPr>
        </p:nvPicPr>
        <p:blipFill>
          <a:blip r:embed="rId4">
            <a:extLst>
              <a:ext uri="{28A0092B-C50C-407E-A947-70E740481C1C}">
                <a14:useLocalDpi xmlns:a14="http://schemas.microsoft.com/office/drawing/2010/main" val="0"/>
              </a:ext>
            </a:extLst>
          </a:blip>
          <a:stretch>
            <a:fillRect/>
          </a:stretch>
        </p:blipFill>
        <p:spPr bwMode="auto">
          <a:xfrm>
            <a:off x="725488" y="4232817"/>
            <a:ext cx="3748088" cy="804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01B9AC5F-0D10-20AB-69B2-ED6DF9911957}"/>
              </a:ext>
            </a:extLst>
          </p:cNvPr>
          <p:cNvPicPr>
            <a:picLocks noChangeAspect="1"/>
          </p:cNvPicPr>
          <p:nvPr/>
        </p:nvPicPr>
        <p:blipFill>
          <a:blip r:embed="rId5"/>
          <a:stretch>
            <a:fillRect/>
          </a:stretch>
        </p:blipFill>
        <p:spPr>
          <a:xfrm>
            <a:off x="3127266" y="3904781"/>
            <a:ext cx="3515272" cy="2086181"/>
          </a:xfrm>
          <a:prstGeom prst="rect">
            <a:avLst/>
          </a:prstGeom>
        </p:spPr>
      </p:pic>
      <p:pic>
        <p:nvPicPr>
          <p:cNvPr id="5" name="Picture 4">
            <a:extLst>
              <a:ext uri="{FF2B5EF4-FFF2-40B4-BE49-F238E27FC236}">
                <a16:creationId xmlns:a16="http://schemas.microsoft.com/office/drawing/2014/main" id="{4A22A981-8F55-DB15-F1AB-FC20586541FF}"/>
              </a:ext>
            </a:extLst>
          </p:cNvPr>
          <p:cNvPicPr>
            <a:picLocks noChangeAspect="1"/>
          </p:cNvPicPr>
          <p:nvPr/>
        </p:nvPicPr>
        <p:blipFill>
          <a:blip r:embed="rId5"/>
          <a:stretch>
            <a:fillRect/>
          </a:stretch>
        </p:blipFill>
        <p:spPr>
          <a:xfrm>
            <a:off x="2142332" y="2293468"/>
            <a:ext cx="2832100" cy="1631950"/>
          </a:xfrm>
          <a:prstGeom prst="rect">
            <a:avLst/>
          </a:prstGeom>
        </p:spPr>
      </p:pic>
      <p:pic>
        <p:nvPicPr>
          <p:cNvPr id="6" name="Picture 5">
            <a:extLst>
              <a:ext uri="{FF2B5EF4-FFF2-40B4-BE49-F238E27FC236}">
                <a16:creationId xmlns:a16="http://schemas.microsoft.com/office/drawing/2014/main" id="{B2B92C1E-BDF8-C0C3-7EF2-2A0AC81FA64F}"/>
              </a:ext>
            </a:extLst>
          </p:cNvPr>
          <p:cNvPicPr>
            <a:picLocks noChangeAspect="1"/>
          </p:cNvPicPr>
          <p:nvPr/>
        </p:nvPicPr>
        <p:blipFill>
          <a:blip r:embed="rId5"/>
          <a:stretch>
            <a:fillRect/>
          </a:stretch>
        </p:blipFill>
        <p:spPr>
          <a:xfrm>
            <a:off x="1487652" y="1958989"/>
            <a:ext cx="5664200" cy="951405"/>
          </a:xfrm>
          <a:prstGeom prst="rect">
            <a:avLst/>
          </a:prstGeom>
        </p:spPr>
      </p:pic>
    </p:spTree>
    <p:extLst>
      <p:ext uri="{BB962C8B-B14F-4D97-AF65-F5344CB8AC3E}">
        <p14:creationId xmlns:p14="http://schemas.microsoft.com/office/powerpoint/2010/main" val="100600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6615" y="192024"/>
            <a:ext cx="8430768" cy="1143000"/>
          </a:xfrm>
        </p:spPr>
        <p:txBody>
          <a:bodyPr>
            <a:normAutofit/>
          </a:bodyPr>
          <a:lstStyle/>
          <a:p>
            <a:r>
              <a:rPr lang="en-IN" dirty="0"/>
              <a:t>Matrices </a:t>
            </a:r>
            <a:r>
              <a:rPr lang="en-US" dirty="0"/>
              <a:t>(3 of 3)</a:t>
            </a:r>
            <a:endParaRPr lang="en-IN" dirty="0"/>
          </a:p>
        </p:txBody>
      </p:sp>
      <p:sp>
        <p:nvSpPr>
          <p:cNvPr id="3" name="Text Placeholder 2"/>
          <p:cNvSpPr>
            <a:spLocks noGrp="1"/>
          </p:cNvSpPr>
          <p:nvPr>
            <p:ph type="body" sz="quarter" idx="13"/>
          </p:nvPr>
        </p:nvSpPr>
        <p:spPr>
          <a:xfrm>
            <a:off x="457200" y="1444752"/>
            <a:ext cx="8335962" cy="4365498"/>
          </a:xfrm>
        </p:spPr>
        <p:txBody>
          <a:bodyPr/>
          <a:lstStyle/>
          <a:p>
            <a:r>
              <a:rPr lang="en-US" dirty="0"/>
              <a:t>The </a:t>
            </a:r>
            <a:r>
              <a:rPr lang="en-IN" dirty="0"/>
              <a:t>matrix derived from the coefficients and constant terms of a system of linear equations is the </a:t>
            </a:r>
            <a:r>
              <a:rPr lang="en-IN" b="1" dirty="0"/>
              <a:t>augmented matrix </a:t>
            </a:r>
            <a:r>
              <a:rPr lang="en-IN" dirty="0"/>
              <a:t>of the system. The matrix containing only the coefficients of the system is the </a:t>
            </a:r>
            <a:r>
              <a:rPr lang="en-IN" b="1" dirty="0"/>
              <a:t>coefficient matrix </a:t>
            </a:r>
            <a:r>
              <a:rPr lang="en-IN" dirty="0"/>
              <a:t>of the system.</a:t>
            </a:r>
          </a:p>
        </p:txBody>
      </p:sp>
      <p:pic>
        <p:nvPicPr>
          <p:cNvPr id="2050" name="Picture 2" descr="The image consists of a system, and 2 matrices. System: x minus 4 y + 3 z = 5, negative x + 3 y minus z = negative 3, 2 x minus 4 z = 6. The first matrix labeled augmented matrix contains three rows and four columns. Matrix (3, 4, [1, negative 4, 3, 5, negative 1, 3, negative 1, negative 3, 2, 0, negative 4, 6]). The second matrix labeled coefficient matrix contains three rows and three columns. Matrix (3, 3, [1, negative 4, 3, negative 1, 3, negative 1, 2, 0, negative 4])."/>
          <p:cNvPicPr>
            <a:picLocks noGrp="1" noChangeAspect="1" noChangeArrowheads="1"/>
          </p:cNvPicPr>
          <p:nvPr>
            <p:ph type="pic" sz="quarter" idx="27"/>
          </p:nvPr>
        </p:nvPicPr>
        <p:blipFill>
          <a:blip r:embed="rId2" cstate="print">
            <a:extLst>
              <a:ext uri="{28A0092B-C50C-407E-A947-70E740481C1C}">
                <a14:useLocalDpi xmlns:a14="http://schemas.microsoft.com/office/drawing/2010/main" val="0"/>
              </a:ext>
            </a:extLst>
          </a:blip>
          <a:stretch>
            <a:fillRect/>
          </a:stretch>
        </p:blipFill>
        <p:spPr bwMode="auto">
          <a:xfrm>
            <a:off x="563564" y="3317912"/>
            <a:ext cx="7822883" cy="140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5493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Elementary Row Operations</a:t>
            </a:r>
          </a:p>
        </p:txBody>
      </p:sp>
    </p:spTree>
    <p:extLst>
      <p:ext uri="{BB962C8B-B14F-4D97-AF65-F5344CB8AC3E}">
        <p14:creationId xmlns:p14="http://schemas.microsoft.com/office/powerpoint/2010/main" val="2194001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Elementary Row Operations </a:t>
            </a:r>
            <a:r>
              <a:rPr lang="en-US" dirty="0"/>
              <a:t>(1 of 4)</a:t>
            </a:r>
            <a:endParaRPr lang="en-IN" dirty="0"/>
          </a:p>
        </p:txBody>
      </p:sp>
      <p:sp>
        <p:nvSpPr>
          <p:cNvPr id="4" name="Text Placeholder 2"/>
          <p:cNvSpPr>
            <a:spLocks noGrp="1"/>
          </p:cNvSpPr>
          <p:nvPr>
            <p:ph type="body" sz="quarter" idx="13"/>
          </p:nvPr>
        </p:nvSpPr>
        <p:spPr>
          <a:xfrm>
            <a:off x="457200" y="1444752"/>
            <a:ext cx="7941050" cy="2135007"/>
          </a:xfrm>
          <a:ln w="28575">
            <a:solidFill>
              <a:srgbClr val="7F4520"/>
            </a:solidFill>
          </a:ln>
        </p:spPr>
        <p:txBody>
          <a:bodyPr/>
          <a:lstStyle/>
          <a:p>
            <a:r>
              <a:rPr lang="en-IN" b="1" dirty="0">
                <a:solidFill>
                  <a:srgbClr val="7F4520"/>
                </a:solidFill>
              </a:rPr>
              <a:t>Elementary Row Operations</a:t>
            </a:r>
          </a:p>
          <a:p>
            <a:r>
              <a:rPr lang="en-US" b="1" dirty="0"/>
              <a:t>1. </a:t>
            </a:r>
            <a:r>
              <a:rPr lang="en-US" dirty="0"/>
              <a:t>Interchange two rows.</a:t>
            </a:r>
          </a:p>
          <a:p>
            <a:r>
              <a:rPr lang="en-IN" b="1" dirty="0"/>
              <a:t>2. </a:t>
            </a:r>
            <a:r>
              <a:rPr lang="en-IN" dirty="0"/>
              <a:t>Multiply a row by a nonzero constant.</a:t>
            </a:r>
          </a:p>
          <a:p>
            <a:r>
              <a:rPr lang="en-IN" b="1" dirty="0"/>
              <a:t>3. </a:t>
            </a:r>
            <a:r>
              <a:rPr lang="en-IN" dirty="0"/>
              <a:t>Add a multiple of a row to another row.</a:t>
            </a:r>
            <a:r>
              <a:rPr lang="pt-BR" i="1" dirty="0"/>
              <a:t>	</a:t>
            </a:r>
            <a:endParaRPr lang="en-IN" dirty="0"/>
          </a:p>
        </p:txBody>
      </p:sp>
    </p:spTree>
    <p:extLst>
      <p:ext uri="{BB962C8B-B14F-4D97-AF65-F5344CB8AC3E}">
        <p14:creationId xmlns:p14="http://schemas.microsoft.com/office/powerpoint/2010/main" val="2443202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1900" dirty="0"/>
              <a:t>Example 3 </a:t>
            </a:r>
            <a:r>
              <a:rPr lang="en-US" sz="1900" dirty="0"/>
              <a:t>– </a:t>
            </a:r>
            <a:r>
              <a:rPr lang="en-IN" sz="1900" dirty="0"/>
              <a:t>Using Elementary Row Operations to Solve a System (1 of 3)</a:t>
            </a:r>
          </a:p>
        </p:txBody>
      </p:sp>
      <p:sp>
        <p:nvSpPr>
          <p:cNvPr id="3" name="Text Placeholder 2"/>
          <p:cNvSpPr>
            <a:spLocks noGrp="1"/>
          </p:cNvSpPr>
          <p:nvPr>
            <p:ph type="body" sz="quarter" idx="13"/>
          </p:nvPr>
        </p:nvSpPr>
        <p:spPr>
          <a:xfrm>
            <a:off x="476251" y="1504951"/>
            <a:ext cx="3495674" cy="2847974"/>
          </a:xfrm>
        </p:spPr>
        <p:txBody>
          <a:bodyPr/>
          <a:lstStyle/>
          <a:p>
            <a:r>
              <a:rPr lang="en-US" dirty="0"/>
              <a:t>         </a:t>
            </a:r>
            <a:r>
              <a:rPr lang="en-US" dirty="0">
                <a:solidFill>
                  <a:srgbClr val="DD0091"/>
                </a:solidFill>
              </a:rPr>
              <a:t>Linear System</a:t>
            </a:r>
            <a:endParaRPr lang="es-ES" dirty="0">
              <a:solidFill>
                <a:srgbClr val="DD0091"/>
              </a:solidFill>
            </a:endParaRPr>
          </a:p>
          <a:p>
            <a:r>
              <a:rPr lang="es-ES" i="1" dirty="0"/>
              <a:t>       x</a:t>
            </a:r>
            <a:r>
              <a:rPr lang="es-ES" dirty="0"/>
              <a:t> − 2</a:t>
            </a:r>
            <a:r>
              <a:rPr lang="es-ES" i="1" dirty="0"/>
              <a:t>y</a:t>
            </a:r>
            <a:r>
              <a:rPr lang="es-ES" dirty="0"/>
              <a:t> + 3</a:t>
            </a:r>
            <a:r>
              <a:rPr lang="es-ES" i="1" dirty="0"/>
              <a:t>z</a:t>
            </a:r>
            <a:r>
              <a:rPr lang="es-ES" dirty="0"/>
              <a:t> = 9</a:t>
            </a:r>
          </a:p>
          <a:p>
            <a:r>
              <a:rPr lang="es-ES" dirty="0"/>
              <a:t>     −</a:t>
            </a:r>
            <a:r>
              <a:rPr lang="es-ES" i="1" dirty="0"/>
              <a:t>x</a:t>
            </a:r>
            <a:r>
              <a:rPr lang="es-ES" dirty="0"/>
              <a:t> + 3</a:t>
            </a:r>
            <a:r>
              <a:rPr lang="es-ES" i="1" dirty="0"/>
              <a:t>y</a:t>
            </a:r>
            <a:r>
              <a:rPr lang="es-ES" dirty="0"/>
              <a:t>         = −4</a:t>
            </a:r>
          </a:p>
          <a:p>
            <a:r>
              <a:rPr lang="es-ES" dirty="0"/>
              <a:t>     2</a:t>
            </a:r>
            <a:r>
              <a:rPr lang="es-ES" i="1" dirty="0"/>
              <a:t>x</a:t>
            </a:r>
            <a:r>
              <a:rPr lang="es-ES" dirty="0"/>
              <a:t> − 5</a:t>
            </a:r>
            <a:r>
              <a:rPr lang="es-ES" i="1" dirty="0"/>
              <a:t>y</a:t>
            </a:r>
            <a:r>
              <a:rPr lang="es-ES" dirty="0"/>
              <a:t> + 5</a:t>
            </a:r>
            <a:r>
              <a:rPr lang="es-ES" i="1" dirty="0"/>
              <a:t>z</a:t>
            </a:r>
            <a:r>
              <a:rPr lang="es-ES" dirty="0"/>
              <a:t> = 17</a:t>
            </a:r>
            <a:endParaRPr lang="en-IN" dirty="0"/>
          </a:p>
          <a:p>
            <a:r>
              <a:rPr lang="en-IN" sz="2200" dirty="0"/>
              <a:t>Add the first equation to the second equation.</a:t>
            </a:r>
            <a:endParaRPr lang="en-IN" sz="2200" b="1" dirty="0">
              <a:solidFill>
                <a:srgbClr val="207BB8"/>
              </a:solidFill>
            </a:endParaRPr>
          </a:p>
        </p:txBody>
      </p:sp>
      <p:sp>
        <p:nvSpPr>
          <p:cNvPr id="11" name="Text Placeholder 2"/>
          <p:cNvSpPr>
            <a:spLocks noGrp="1"/>
          </p:cNvSpPr>
          <p:nvPr>
            <p:ph type="body" sz="quarter" idx="13"/>
          </p:nvPr>
        </p:nvSpPr>
        <p:spPr>
          <a:xfrm>
            <a:off x="4324350" y="1514475"/>
            <a:ext cx="4476750" cy="838199"/>
          </a:xfrm>
        </p:spPr>
        <p:txBody>
          <a:bodyPr/>
          <a:lstStyle/>
          <a:p>
            <a:r>
              <a:rPr lang="en-US" dirty="0">
                <a:solidFill>
                  <a:srgbClr val="DD0091"/>
                </a:solidFill>
              </a:rPr>
              <a:t>Associated Augmented Matrix</a:t>
            </a:r>
            <a:endParaRPr lang="es-ES" dirty="0">
              <a:solidFill>
                <a:srgbClr val="DD0091"/>
              </a:solidFill>
            </a:endParaRPr>
          </a:p>
        </p:txBody>
      </p:sp>
      <p:pic>
        <p:nvPicPr>
          <p:cNvPr id="12290" name="Picture 2" descr="Matrix(3, 4, [1, negative 2, 3, 9, negative 1, 3, 0, negative 4, 2, negative 5, 5, 17])"/>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4604233" y="2159084"/>
            <a:ext cx="2700867" cy="1126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Placeholder 2"/>
          <p:cNvSpPr>
            <a:spLocks noGrp="1"/>
          </p:cNvSpPr>
          <p:nvPr>
            <p:ph type="body" sz="quarter" idx="13"/>
          </p:nvPr>
        </p:nvSpPr>
        <p:spPr>
          <a:xfrm>
            <a:off x="4400550" y="3486150"/>
            <a:ext cx="4476750" cy="838199"/>
          </a:xfrm>
        </p:spPr>
        <p:txBody>
          <a:bodyPr/>
          <a:lstStyle/>
          <a:p>
            <a:r>
              <a:rPr lang="en-IN" sz="2200" dirty="0"/>
              <a:t>Add the first row to the second row to produce a new second row.</a:t>
            </a:r>
            <a:endParaRPr lang="en-IN" sz="2200" b="1" dirty="0">
              <a:solidFill>
                <a:srgbClr val="207BB8"/>
              </a:solidFill>
            </a:endParaRPr>
          </a:p>
        </p:txBody>
      </p:sp>
      <p:sp>
        <p:nvSpPr>
          <p:cNvPr id="13" name="Text Placeholder 2"/>
          <p:cNvSpPr>
            <a:spLocks noGrp="1"/>
          </p:cNvSpPr>
          <p:nvPr>
            <p:ph type="body" sz="quarter" idx="13"/>
          </p:nvPr>
        </p:nvSpPr>
        <p:spPr>
          <a:xfrm>
            <a:off x="561976" y="4400552"/>
            <a:ext cx="3600449" cy="2238374"/>
          </a:xfrm>
        </p:spPr>
        <p:txBody>
          <a:bodyPr/>
          <a:lstStyle/>
          <a:p>
            <a:r>
              <a:rPr lang="es-ES" i="1" dirty="0"/>
              <a:t>      x</a:t>
            </a:r>
            <a:r>
              <a:rPr lang="es-ES" dirty="0"/>
              <a:t> − 2</a:t>
            </a:r>
            <a:r>
              <a:rPr lang="es-ES" i="1" dirty="0"/>
              <a:t>y</a:t>
            </a:r>
            <a:r>
              <a:rPr lang="es-ES" dirty="0"/>
              <a:t> + 3</a:t>
            </a:r>
            <a:r>
              <a:rPr lang="es-ES" i="1" dirty="0"/>
              <a:t>z</a:t>
            </a:r>
            <a:r>
              <a:rPr lang="es-ES" dirty="0"/>
              <a:t> = 9</a:t>
            </a:r>
          </a:p>
          <a:p>
            <a:r>
              <a:rPr lang="es-ES" dirty="0"/>
              <a:t>              </a:t>
            </a:r>
            <a:r>
              <a:rPr lang="es-ES" i="1" dirty="0"/>
              <a:t>y</a:t>
            </a:r>
            <a:r>
              <a:rPr lang="es-ES" dirty="0"/>
              <a:t> + 3</a:t>
            </a:r>
            <a:r>
              <a:rPr lang="es-ES" i="1" dirty="0"/>
              <a:t>z</a:t>
            </a:r>
            <a:r>
              <a:rPr lang="es-ES" dirty="0"/>
              <a:t> = 5</a:t>
            </a:r>
          </a:p>
          <a:p>
            <a:r>
              <a:rPr lang="es-ES" dirty="0"/>
              <a:t>    2</a:t>
            </a:r>
            <a:r>
              <a:rPr lang="es-ES" i="1" dirty="0"/>
              <a:t>x</a:t>
            </a:r>
            <a:r>
              <a:rPr lang="es-ES" dirty="0"/>
              <a:t> − 5</a:t>
            </a:r>
            <a:r>
              <a:rPr lang="es-ES" i="1" dirty="0"/>
              <a:t>y</a:t>
            </a:r>
            <a:r>
              <a:rPr lang="es-ES" dirty="0"/>
              <a:t> + 5</a:t>
            </a:r>
            <a:r>
              <a:rPr lang="es-ES" i="1" dirty="0"/>
              <a:t>z</a:t>
            </a:r>
            <a:r>
              <a:rPr lang="es-ES" dirty="0"/>
              <a:t> = 17</a:t>
            </a:r>
            <a:endParaRPr lang="en-IN" dirty="0"/>
          </a:p>
          <a:p>
            <a:r>
              <a:rPr lang="en-IN" sz="2000" dirty="0"/>
              <a:t>Add −2 times the first equation to the </a:t>
            </a:r>
            <a:r>
              <a:rPr lang="en-US" sz="2000" dirty="0"/>
              <a:t>third equation.</a:t>
            </a:r>
            <a:endParaRPr lang="en-IN" sz="2200" b="1" dirty="0">
              <a:solidFill>
                <a:srgbClr val="207BB8"/>
              </a:solidFill>
            </a:endParaRPr>
          </a:p>
        </p:txBody>
      </p:sp>
      <p:pic>
        <p:nvPicPr>
          <p:cNvPr id="12291" name="Picture 3" descr="Matrix(3, 4, [1, negative 2, 3, 9, 0, 1, 3, 5, 2, negative 5, 5, 17]) (Caption for row 2). R_2 + R_1 right arrow R_2"/>
          <p:cNvPicPr>
            <a:picLocks noGrp="1" noChangeAspect="1" noChangeArrowheads="1"/>
          </p:cNvPicPr>
          <p:nvPr>
            <p:ph type="pic" sz="quarter" idx="27"/>
          </p:nvPr>
        </p:nvPicPr>
        <p:blipFill>
          <a:blip r:embed="rId3">
            <a:extLst>
              <a:ext uri="{28A0092B-C50C-407E-A947-70E740481C1C}">
                <a14:useLocalDpi xmlns:a14="http://schemas.microsoft.com/office/drawing/2010/main" val="0"/>
              </a:ext>
            </a:extLst>
          </a:blip>
          <a:stretch>
            <a:fillRect/>
          </a:stretch>
        </p:blipFill>
        <p:spPr bwMode="auto">
          <a:xfrm>
            <a:off x="4522062" y="4481992"/>
            <a:ext cx="4208329" cy="1184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Placeholder 2"/>
          <p:cNvSpPr>
            <a:spLocks noGrp="1"/>
          </p:cNvSpPr>
          <p:nvPr>
            <p:ph type="body" sz="quarter" idx="13"/>
          </p:nvPr>
        </p:nvSpPr>
        <p:spPr>
          <a:xfrm>
            <a:off x="4267200" y="5886450"/>
            <a:ext cx="4476750" cy="838199"/>
          </a:xfrm>
        </p:spPr>
        <p:txBody>
          <a:bodyPr/>
          <a:lstStyle/>
          <a:p>
            <a:r>
              <a:rPr lang="en-IN" sz="2000" dirty="0"/>
              <a:t>Add −2 times the first row to the third row to produce a new third row.</a:t>
            </a:r>
            <a:endParaRPr lang="en-IN" sz="2200" b="1" dirty="0">
              <a:solidFill>
                <a:srgbClr val="207BB8"/>
              </a:solidFill>
            </a:endParaRPr>
          </a:p>
        </p:txBody>
      </p:sp>
    </p:spTree>
    <p:extLst>
      <p:ext uri="{BB962C8B-B14F-4D97-AF65-F5344CB8AC3E}">
        <p14:creationId xmlns:p14="http://schemas.microsoft.com/office/powerpoint/2010/main" val="3322449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1900" dirty="0"/>
              <a:t>Example 3 </a:t>
            </a:r>
            <a:r>
              <a:rPr lang="en-US" sz="1900" dirty="0"/>
              <a:t>– </a:t>
            </a:r>
            <a:r>
              <a:rPr lang="en-IN" sz="1900" dirty="0"/>
              <a:t>Using Elementary Row Operations to Solve a System (2 of 3)</a:t>
            </a:r>
          </a:p>
        </p:txBody>
      </p:sp>
      <p:sp>
        <p:nvSpPr>
          <p:cNvPr id="13" name="Text Placeholder 2"/>
          <p:cNvSpPr>
            <a:spLocks noGrp="1"/>
          </p:cNvSpPr>
          <p:nvPr>
            <p:ph type="body" sz="quarter" idx="13"/>
          </p:nvPr>
        </p:nvSpPr>
        <p:spPr>
          <a:xfrm>
            <a:off x="581027" y="1724027"/>
            <a:ext cx="3419474" cy="2238374"/>
          </a:xfrm>
        </p:spPr>
        <p:txBody>
          <a:bodyPr/>
          <a:lstStyle/>
          <a:p>
            <a:r>
              <a:rPr lang="es-ES" i="1" dirty="0"/>
              <a:t>      x</a:t>
            </a:r>
            <a:r>
              <a:rPr lang="es-ES" dirty="0"/>
              <a:t> − 2</a:t>
            </a:r>
            <a:r>
              <a:rPr lang="es-ES" i="1" dirty="0"/>
              <a:t>y</a:t>
            </a:r>
            <a:r>
              <a:rPr lang="es-ES" dirty="0"/>
              <a:t> + 3</a:t>
            </a:r>
            <a:r>
              <a:rPr lang="es-ES" i="1" dirty="0"/>
              <a:t>z</a:t>
            </a:r>
            <a:r>
              <a:rPr lang="es-ES" dirty="0"/>
              <a:t> = 9</a:t>
            </a:r>
          </a:p>
          <a:p>
            <a:r>
              <a:rPr lang="es-ES" dirty="0"/>
              <a:t>              </a:t>
            </a:r>
            <a:r>
              <a:rPr lang="es-ES" i="1" dirty="0"/>
              <a:t>y</a:t>
            </a:r>
            <a:r>
              <a:rPr lang="es-ES" dirty="0"/>
              <a:t> + 3</a:t>
            </a:r>
            <a:r>
              <a:rPr lang="es-ES" i="1" dirty="0"/>
              <a:t>z</a:t>
            </a:r>
            <a:r>
              <a:rPr lang="es-ES" dirty="0"/>
              <a:t> = 5</a:t>
            </a:r>
          </a:p>
          <a:p>
            <a:r>
              <a:rPr lang="es-ES" dirty="0"/>
              <a:t>              −</a:t>
            </a:r>
            <a:r>
              <a:rPr lang="es-ES" i="1" dirty="0"/>
              <a:t>y</a:t>
            </a:r>
            <a:r>
              <a:rPr lang="es-ES" dirty="0"/>
              <a:t> − </a:t>
            </a:r>
            <a:r>
              <a:rPr lang="es-ES" i="1" dirty="0"/>
              <a:t>z</a:t>
            </a:r>
            <a:r>
              <a:rPr lang="es-ES" dirty="0"/>
              <a:t> = −1</a:t>
            </a:r>
            <a:endParaRPr lang="en-IN" dirty="0"/>
          </a:p>
          <a:p>
            <a:r>
              <a:rPr lang="en-IN" sz="2000" dirty="0"/>
              <a:t>Add the second equation to the third </a:t>
            </a:r>
            <a:r>
              <a:rPr lang="en-US" sz="2000" dirty="0"/>
              <a:t>equation.</a:t>
            </a:r>
            <a:endParaRPr lang="en-IN" sz="2200" b="1" dirty="0">
              <a:solidFill>
                <a:srgbClr val="207BB8"/>
              </a:solidFill>
            </a:endParaRPr>
          </a:p>
        </p:txBody>
      </p:sp>
      <p:pic>
        <p:nvPicPr>
          <p:cNvPr id="13314" name="Picture 2" descr="Matrix(3, 4, [1, negative 2, 3, 9, 0, 1, 3, 5, 0, negative 1, negative 1, negative 1]) (Caption for row 3). R_3 + (negative 2)R_1 right arrow R_3"/>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4369995" y="1775848"/>
            <a:ext cx="4483886" cy="11295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Placeholder 2"/>
          <p:cNvSpPr>
            <a:spLocks noGrp="1"/>
          </p:cNvSpPr>
          <p:nvPr>
            <p:ph type="body" sz="quarter" idx="13"/>
          </p:nvPr>
        </p:nvSpPr>
        <p:spPr>
          <a:xfrm>
            <a:off x="4400550" y="3190875"/>
            <a:ext cx="4476750" cy="838199"/>
          </a:xfrm>
        </p:spPr>
        <p:txBody>
          <a:bodyPr/>
          <a:lstStyle/>
          <a:p>
            <a:r>
              <a:rPr lang="en-IN" sz="2000" dirty="0"/>
              <a:t>Add the second row to the third row to produce a new third row.</a:t>
            </a:r>
            <a:endParaRPr lang="en-IN" sz="2200" b="1" dirty="0">
              <a:solidFill>
                <a:srgbClr val="207BB8"/>
              </a:solidFill>
            </a:endParaRPr>
          </a:p>
        </p:txBody>
      </p:sp>
      <p:sp>
        <p:nvSpPr>
          <p:cNvPr id="15" name="Text Placeholder 2"/>
          <p:cNvSpPr>
            <a:spLocks noGrp="1"/>
          </p:cNvSpPr>
          <p:nvPr>
            <p:ph type="body" sz="quarter" idx="13"/>
          </p:nvPr>
        </p:nvSpPr>
        <p:spPr>
          <a:xfrm>
            <a:off x="571500" y="4152902"/>
            <a:ext cx="3533776" cy="2238374"/>
          </a:xfrm>
        </p:spPr>
        <p:txBody>
          <a:bodyPr/>
          <a:lstStyle/>
          <a:p>
            <a:r>
              <a:rPr lang="es-ES" i="1" dirty="0"/>
              <a:t>      x</a:t>
            </a:r>
            <a:r>
              <a:rPr lang="es-ES" dirty="0"/>
              <a:t> − 2</a:t>
            </a:r>
            <a:r>
              <a:rPr lang="es-ES" i="1" dirty="0"/>
              <a:t>y</a:t>
            </a:r>
            <a:r>
              <a:rPr lang="es-ES" dirty="0"/>
              <a:t> + 3</a:t>
            </a:r>
            <a:r>
              <a:rPr lang="es-ES" i="1" dirty="0"/>
              <a:t>z</a:t>
            </a:r>
            <a:r>
              <a:rPr lang="es-ES" dirty="0"/>
              <a:t> = 9</a:t>
            </a:r>
          </a:p>
          <a:p>
            <a:r>
              <a:rPr lang="es-ES" dirty="0"/>
              <a:t>              </a:t>
            </a:r>
            <a:r>
              <a:rPr lang="es-ES" i="1" dirty="0"/>
              <a:t>y</a:t>
            </a:r>
            <a:r>
              <a:rPr lang="es-ES" dirty="0"/>
              <a:t> + 3</a:t>
            </a:r>
            <a:r>
              <a:rPr lang="es-ES" i="1" dirty="0"/>
              <a:t>z</a:t>
            </a:r>
            <a:r>
              <a:rPr lang="es-ES" dirty="0"/>
              <a:t> = 5</a:t>
            </a:r>
          </a:p>
          <a:p>
            <a:r>
              <a:rPr lang="es-ES" dirty="0"/>
              <a:t>                    2</a:t>
            </a:r>
            <a:r>
              <a:rPr lang="es-ES" i="1" dirty="0"/>
              <a:t>z</a:t>
            </a:r>
            <a:r>
              <a:rPr lang="es-ES" dirty="0"/>
              <a:t> = 4</a:t>
            </a:r>
            <a:endParaRPr lang="en-IN" dirty="0"/>
          </a:p>
          <a:p>
            <a:r>
              <a:rPr lang="en-IN" sz="2000" dirty="0"/>
              <a:t>Multiply the third equation by</a:t>
            </a:r>
            <a:endParaRPr lang="en-IN" sz="2200" b="1" dirty="0">
              <a:solidFill>
                <a:srgbClr val="207BB8"/>
              </a:solidFill>
            </a:endParaRPr>
          </a:p>
        </p:txBody>
      </p:sp>
      <p:pic>
        <p:nvPicPr>
          <p:cNvPr id="13315" name="Picture 3" descr="1∕2."/>
          <p:cNvPicPr>
            <a:picLocks noGrp="1" noChangeAspect="1" noChangeArrowheads="1"/>
          </p:cNvPicPr>
          <p:nvPr>
            <p:ph type="pic" sz="quarter" idx="27"/>
          </p:nvPr>
        </p:nvPicPr>
        <p:blipFill>
          <a:blip r:embed="rId3">
            <a:extLst>
              <a:ext uri="{28A0092B-C50C-407E-A947-70E740481C1C}">
                <a14:useLocalDpi xmlns:a14="http://schemas.microsoft.com/office/drawing/2010/main" val="0"/>
              </a:ext>
            </a:extLst>
          </a:blip>
          <a:stretch>
            <a:fillRect/>
          </a:stretch>
        </p:blipFill>
        <p:spPr bwMode="auto">
          <a:xfrm>
            <a:off x="3925888" y="5642080"/>
            <a:ext cx="271463" cy="442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descr="Matrix(3, 4, [1, negative 2, 3, 9, 0, 1, 3, 5, 0, 0, 2, 4]) (Caption for row 3). R_3 + R_2 right arrow R_3"/>
          <p:cNvPicPr>
            <a:picLocks noGrp="1" noChangeAspect="1" noChangeArrowheads="1"/>
          </p:cNvPicPr>
          <p:nvPr>
            <p:ph type="pic" sz="quarter" idx="27"/>
          </p:nvPr>
        </p:nvPicPr>
        <p:blipFill>
          <a:blip r:embed="rId4">
            <a:extLst>
              <a:ext uri="{28A0092B-C50C-407E-A947-70E740481C1C}">
                <a14:useLocalDpi xmlns:a14="http://schemas.microsoft.com/office/drawing/2010/main" val="0"/>
              </a:ext>
            </a:extLst>
          </a:blip>
          <a:stretch>
            <a:fillRect/>
          </a:stretch>
        </p:blipFill>
        <p:spPr bwMode="auto">
          <a:xfrm>
            <a:off x="4333634" y="4221970"/>
            <a:ext cx="4052927" cy="1128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Placeholder 2"/>
          <p:cNvSpPr>
            <a:spLocks noGrp="1"/>
          </p:cNvSpPr>
          <p:nvPr>
            <p:ph type="body" sz="quarter" idx="13"/>
          </p:nvPr>
        </p:nvSpPr>
        <p:spPr>
          <a:xfrm>
            <a:off x="4429125" y="5667375"/>
            <a:ext cx="2990850" cy="390525"/>
          </a:xfrm>
        </p:spPr>
        <p:txBody>
          <a:bodyPr/>
          <a:lstStyle/>
          <a:p>
            <a:r>
              <a:rPr lang="en-IN" sz="2000" dirty="0"/>
              <a:t>Multiply the third row by </a:t>
            </a:r>
            <a:endParaRPr lang="en-IN" sz="2200" b="1" dirty="0">
              <a:solidFill>
                <a:srgbClr val="207BB8"/>
              </a:solidFill>
            </a:endParaRPr>
          </a:p>
        </p:txBody>
      </p:sp>
      <p:pic>
        <p:nvPicPr>
          <p:cNvPr id="13317" name="Picture 5" descr="1∕2"/>
          <p:cNvPicPr>
            <a:picLocks noGrp="1" noChangeAspect="1" noChangeArrowheads="1"/>
          </p:cNvPicPr>
          <p:nvPr>
            <p:ph type="pic" sz="quarter" idx="27"/>
          </p:nvPr>
        </p:nvPicPr>
        <p:blipFill>
          <a:blip r:embed="rId5">
            <a:extLst>
              <a:ext uri="{28A0092B-C50C-407E-A947-70E740481C1C}">
                <a14:useLocalDpi xmlns:a14="http://schemas.microsoft.com/office/drawing/2010/main" val="0"/>
              </a:ext>
            </a:extLst>
          </a:blip>
          <a:stretch>
            <a:fillRect/>
          </a:stretch>
        </p:blipFill>
        <p:spPr bwMode="auto">
          <a:xfrm>
            <a:off x="7269166" y="5664804"/>
            <a:ext cx="188214" cy="440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Text Placeholder 2"/>
          <p:cNvSpPr>
            <a:spLocks noGrp="1"/>
          </p:cNvSpPr>
          <p:nvPr>
            <p:ph type="body" sz="quarter" idx="13"/>
          </p:nvPr>
        </p:nvSpPr>
        <p:spPr>
          <a:xfrm>
            <a:off x="4429124" y="6048375"/>
            <a:ext cx="3429001" cy="390525"/>
          </a:xfrm>
        </p:spPr>
        <p:txBody>
          <a:bodyPr/>
          <a:lstStyle/>
          <a:p>
            <a:r>
              <a:rPr lang="en-US" sz="2000" dirty="0"/>
              <a:t>to produce a new third row.</a:t>
            </a:r>
            <a:endParaRPr lang="en-IN" sz="2200" b="1" dirty="0">
              <a:solidFill>
                <a:srgbClr val="207BB8"/>
              </a:solidFill>
            </a:endParaRPr>
          </a:p>
        </p:txBody>
      </p:sp>
    </p:spTree>
    <p:extLst>
      <p:ext uri="{BB962C8B-B14F-4D97-AF65-F5344CB8AC3E}">
        <p14:creationId xmlns:p14="http://schemas.microsoft.com/office/powerpoint/2010/main" val="2449044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1900" dirty="0"/>
              <a:t>Example 3 </a:t>
            </a:r>
            <a:r>
              <a:rPr lang="en-US" sz="1900" dirty="0"/>
              <a:t>– </a:t>
            </a:r>
            <a:r>
              <a:rPr lang="en-IN" sz="1900" dirty="0"/>
              <a:t>Using Elementary Row Operations to Solve a System (3 of 3)</a:t>
            </a:r>
          </a:p>
        </p:txBody>
      </p:sp>
      <p:sp>
        <p:nvSpPr>
          <p:cNvPr id="13" name="Text Placeholder 2"/>
          <p:cNvSpPr>
            <a:spLocks noGrp="1"/>
          </p:cNvSpPr>
          <p:nvPr>
            <p:ph type="body" sz="quarter" idx="13"/>
          </p:nvPr>
        </p:nvSpPr>
        <p:spPr>
          <a:xfrm>
            <a:off x="581027" y="1724027"/>
            <a:ext cx="3419474" cy="1685923"/>
          </a:xfrm>
        </p:spPr>
        <p:txBody>
          <a:bodyPr/>
          <a:lstStyle/>
          <a:p>
            <a:r>
              <a:rPr lang="es-ES" i="1" dirty="0"/>
              <a:t>      x</a:t>
            </a:r>
            <a:r>
              <a:rPr lang="es-ES" dirty="0"/>
              <a:t> − 2</a:t>
            </a:r>
            <a:r>
              <a:rPr lang="es-ES" i="1" dirty="0"/>
              <a:t>y</a:t>
            </a:r>
            <a:r>
              <a:rPr lang="es-ES" dirty="0"/>
              <a:t> + 3</a:t>
            </a:r>
            <a:r>
              <a:rPr lang="es-ES" i="1" dirty="0"/>
              <a:t>z</a:t>
            </a:r>
            <a:r>
              <a:rPr lang="es-ES" dirty="0"/>
              <a:t> = 9</a:t>
            </a:r>
          </a:p>
          <a:p>
            <a:r>
              <a:rPr lang="es-ES" dirty="0"/>
              <a:t>              </a:t>
            </a:r>
            <a:r>
              <a:rPr lang="es-ES" i="1" dirty="0"/>
              <a:t>y</a:t>
            </a:r>
            <a:r>
              <a:rPr lang="es-ES" dirty="0"/>
              <a:t> + 3</a:t>
            </a:r>
            <a:r>
              <a:rPr lang="es-ES" i="1" dirty="0"/>
              <a:t>z</a:t>
            </a:r>
            <a:r>
              <a:rPr lang="es-ES" dirty="0"/>
              <a:t> = 5</a:t>
            </a:r>
          </a:p>
          <a:p>
            <a:r>
              <a:rPr lang="es-ES" dirty="0"/>
              <a:t>                      </a:t>
            </a:r>
            <a:r>
              <a:rPr lang="es-ES" i="1" dirty="0"/>
              <a:t>z</a:t>
            </a:r>
            <a:r>
              <a:rPr lang="es-ES" dirty="0"/>
              <a:t> = 2</a:t>
            </a:r>
            <a:endParaRPr lang="en-IN" dirty="0"/>
          </a:p>
        </p:txBody>
      </p:sp>
      <p:pic>
        <p:nvPicPr>
          <p:cNvPr id="14338" name="Picture 2" descr="Matrix(3, 4, [1, negative 2, 3, 9, 0, 1, 3, 5, 0, 0, 1, 2]) (Caption for row 3). (1∕2)R_3 right arrow R_3"/>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4290239" y="1773998"/>
            <a:ext cx="3775037" cy="1137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Placeholder 2"/>
          <p:cNvSpPr>
            <a:spLocks noGrp="1"/>
          </p:cNvSpPr>
          <p:nvPr>
            <p:ph type="body" sz="quarter" idx="13"/>
          </p:nvPr>
        </p:nvSpPr>
        <p:spPr>
          <a:xfrm>
            <a:off x="457200" y="3362325"/>
            <a:ext cx="7534275" cy="838199"/>
          </a:xfrm>
        </p:spPr>
        <p:txBody>
          <a:bodyPr/>
          <a:lstStyle/>
          <a:p>
            <a:r>
              <a:rPr lang="en-IN" dirty="0"/>
              <a:t>Use back‑substitution to find that the solution is </a:t>
            </a:r>
            <a:r>
              <a:rPr lang="en-IN" i="1" dirty="0"/>
              <a:t>x </a:t>
            </a:r>
            <a:r>
              <a:rPr lang="en-IN" dirty="0"/>
              <a:t>= 1, </a:t>
            </a:r>
            <a:r>
              <a:rPr lang="en-IN" i="1" dirty="0"/>
              <a:t>y </a:t>
            </a:r>
            <a:r>
              <a:rPr lang="en-IN" dirty="0"/>
              <a:t>= −1, and </a:t>
            </a:r>
            <a:r>
              <a:rPr lang="en-IN" i="1" dirty="0"/>
              <a:t>z </a:t>
            </a:r>
            <a:r>
              <a:rPr lang="en-IN" dirty="0"/>
              <a:t>= 2.</a:t>
            </a:r>
            <a:endParaRPr lang="en-IN" b="1" dirty="0">
              <a:solidFill>
                <a:srgbClr val="207BB8"/>
              </a:solidFill>
            </a:endParaRPr>
          </a:p>
        </p:txBody>
      </p:sp>
    </p:spTree>
    <p:extLst>
      <p:ext uri="{BB962C8B-B14F-4D97-AF65-F5344CB8AC3E}">
        <p14:creationId xmlns:p14="http://schemas.microsoft.com/office/powerpoint/2010/main" val="376837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Elementary Row Operations </a:t>
            </a:r>
            <a:r>
              <a:rPr lang="en-US" dirty="0"/>
              <a:t>(2 of 4)</a:t>
            </a:r>
            <a:endParaRPr lang="en-IN" dirty="0"/>
          </a:p>
        </p:txBody>
      </p:sp>
      <p:sp>
        <p:nvSpPr>
          <p:cNvPr id="4" name="Text Placeholder 2"/>
          <p:cNvSpPr>
            <a:spLocks noGrp="1"/>
          </p:cNvSpPr>
          <p:nvPr>
            <p:ph type="body" sz="quarter" idx="13"/>
          </p:nvPr>
        </p:nvSpPr>
        <p:spPr>
          <a:xfrm>
            <a:off x="457200" y="1444752"/>
            <a:ext cx="7941050" cy="4201932"/>
          </a:xfrm>
          <a:ln w="28575">
            <a:solidFill>
              <a:srgbClr val="7F4520"/>
            </a:solidFill>
          </a:ln>
        </p:spPr>
        <p:txBody>
          <a:bodyPr/>
          <a:lstStyle/>
          <a:p>
            <a:r>
              <a:rPr lang="en-IN" b="1" dirty="0">
                <a:solidFill>
                  <a:srgbClr val="7F4520"/>
                </a:solidFill>
              </a:rPr>
              <a:t>Row-Echelon Form and Reduced Row-Echelon Form</a:t>
            </a:r>
          </a:p>
          <a:p>
            <a:r>
              <a:rPr lang="en-IN" dirty="0"/>
              <a:t>A matrix in </a:t>
            </a:r>
            <a:r>
              <a:rPr lang="en-IN" b="1" dirty="0"/>
              <a:t>row-echelon form </a:t>
            </a:r>
            <a:r>
              <a:rPr lang="en-IN" dirty="0"/>
              <a:t>has the properties below.</a:t>
            </a:r>
            <a:endParaRPr lang="en-US" b="1" dirty="0"/>
          </a:p>
          <a:p>
            <a:pPr marL="342900" indent="-342900"/>
            <a:r>
              <a:rPr lang="en-IN" b="1" dirty="0"/>
              <a:t>1</a:t>
            </a:r>
            <a:r>
              <a:rPr lang="en-IN" dirty="0"/>
              <a:t>. Any rows consisting entirely of zeros occur at the bottom of the matrix.</a:t>
            </a:r>
          </a:p>
          <a:p>
            <a:pPr marL="342900" indent="-342900"/>
            <a:r>
              <a:rPr lang="en-IN" b="1" dirty="0"/>
              <a:t>2. </a:t>
            </a:r>
            <a:r>
              <a:rPr lang="en-IN" dirty="0"/>
              <a:t>For each row that does not consist entirely of zeros, the first nonzero entry is 1 (called a </a:t>
            </a:r>
            <a:r>
              <a:rPr lang="en-IN" b="1" dirty="0"/>
              <a:t>leading 1</a:t>
            </a:r>
            <a:r>
              <a:rPr lang="en-IN" dirty="0"/>
              <a:t>).</a:t>
            </a:r>
          </a:p>
          <a:p>
            <a:pPr marL="342900" indent="-342900"/>
            <a:r>
              <a:rPr lang="en-IN" b="1" dirty="0"/>
              <a:t>3. </a:t>
            </a:r>
            <a:r>
              <a:rPr lang="en-IN" dirty="0"/>
              <a:t>For two successive (nonzero) rows, the leading 1 in the higher row is farther to the left than the leading 1 in the lower row.</a:t>
            </a:r>
          </a:p>
        </p:txBody>
      </p:sp>
    </p:spTree>
    <p:extLst>
      <p:ext uri="{BB962C8B-B14F-4D97-AF65-F5344CB8AC3E}">
        <p14:creationId xmlns:p14="http://schemas.microsoft.com/office/powerpoint/2010/main" val="3832079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Elementary Row Operations </a:t>
            </a:r>
            <a:r>
              <a:rPr lang="en-US" dirty="0"/>
              <a:t>(3 of 4)</a:t>
            </a:r>
            <a:endParaRPr lang="en-IN" dirty="0"/>
          </a:p>
        </p:txBody>
      </p:sp>
      <p:sp>
        <p:nvSpPr>
          <p:cNvPr id="4" name="Text Placeholder 2"/>
          <p:cNvSpPr>
            <a:spLocks noGrp="1"/>
          </p:cNvSpPr>
          <p:nvPr>
            <p:ph type="body" sz="quarter" idx="13"/>
          </p:nvPr>
        </p:nvSpPr>
        <p:spPr>
          <a:xfrm>
            <a:off x="457200" y="1444752"/>
            <a:ext cx="7941050" cy="2077857"/>
          </a:xfrm>
          <a:ln w="28575">
            <a:solidFill>
              <a:srgbClr val="7F4520"/>
            </a:solidFill>
          </a:ln>
        </p:spPr>
        <p:txBody>
          <a:bodyPr/>
          <a:lstStyle/>
          <a:p>
            <a:r>
              <a:rPr lang="en-IN" b="1" dirty="0">
                <a:solidFill>
                  <a:srgbClr val="7F4520"/>
                </a:solidFill>
              </a:rPr>
              <a:t>Row-Echelon Form and Reduced Row-Echelon Form</a:t>
            </a:r>
          </a:p>
          <a:p>
            <a:r>
              <a:rPr lang="en-IN" dirty="0"/>
              <a:t>A matrix in row-echelon form is in </a:t>
            </a:r>
            <a:r>
              <a:rPr lang="en-IN" b="1" dirty="0"/>
              <a:t>reduced row-echelon form </a:t>
            </a:r>
            <a:r>
              <a:rPr lang="en-IN" dirty="0"/>
              <a:t>when every column that has a leading 1 has zeros in every position above and below its leading 1.</a:t>
            </a:r>
          </a:p>
        </p:txBody>
      </p:sp>
    </p:spTree>
    <p:extLst>
      <p:ext uri="{BB962C8B-B14F-4D97-AF65-F5344CB8AC3E}">
        <p14:creationId xmlns:p14="http://schemas.microsoft.com/office/powerpoint/2010/main" val="1703666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Elementary Row Operations </a:t>
            </a:r>
            <a:r>
              <a:rPr lang="en-US" dirty="0"/>
              <a:t>(4 of 4)</a:t>
            </a:r>
            <a:endParaRPr lang="en-IN" dirty="0"/>
          </a:p>
        </p:txBody>
      </p:sp>
      <p:sp>
        <p:nvSpPr>
          <p:cNvPr id="5" name="Text Placeholder 2"/>
          <p:cNvSpPr>
            <a:spLocks noGrp="1"/>
          </p:cNvSpPr>
          <p:nvPr>
            <p:ph type="body" sz="quarter" idx="13"/>
          </p:nvPr>
        </p:nvSpPr>
        <p:spPr>
          <a:xfrm>
            <a:off x="457200" y="1444752"/>
            <a:ext cx="8335962" cy="869823"/>
          </a:xfrm>
        </p:spPr>
        <p:txBody>
          <a:bodyPr/>
          <a:lstStyle/>
          <a:p>
            <a:r>
              <a:rPr lang="en-IN" dirty="0"/>
              <a:t>The procedure for using Gaussian elimination with back-substitution is </a:t>
            </a:r>
            <a:r>
              <a:rPr lang="en-US" dirty="0"/>
              <a:t>summarized below.</a:t>
            </a:r>
            <a:endParaRPr lang="en-IN" b="1" dirty="0">
              <a:solidFill>
                <a:srgbClr val="207BB8"/>
              </a:solidFill>
            </a:endParaRPr>
          </a:p>
        </p:txBody>
      </p:sp>
      <p:sp>
        <p:nvSpPr>
          <p:cNvPr id="4" name="Text Placeholder 2"/>
          <p:cNvSpPr>
            <a:spLocks noGrp="1"/>
          </p:cNvSpPr>
          <p:nvPr>
            <p:ph type="body" sz="quarter" idx="13"/>
          </p:nvPr>
        </p:nvSpPr>
        <p:spPr>
          <a:xfrm>
            <a:off x="457200" y="2578227"/>
            <a:ext cx="7941050" cy="3706633"/>
          </a:xfrm>
          <a:ln w="28575">
            <a:solidFill>
              <a:srgbClr val="7F4520"/>
            </a:solidFill>
          </a:ln>
        </p:spPr>
        <p:txBody>
          <a:bodyPr/>
          <a:lstStyle/>
          <a:p>
            <a:r>
              <a:rPr lang="en-IN" b="1" dirty="0">
                <a:solidFill>
                  <a:srgbClr val="7F4520"/>
                </a:solidFill>
              </a:rPr>
              <a:t>Gaussian Elimination with Back-Substitution</a:t>
            </a:r>
          </a:p>
          <a:p>
            <a:pPr marL="342900" indent="-342900"/>
            <a:r>
              <a:rPr lang="en-IN" b="1" dirty="0"/>
              <a:t>1. </a:t>
            </a:r>
            <a:r>
              <a:rPr lang="en-IN" dirty="0"/>
              <a:t>Write the augmented matrix of the system of linear equations.</a:t>
            </a:r>
          </a:p>
          <a:p>
            <a:pPr marL="342900" indent="-342900"/>
            <a:r>
              <a:rPr lang="en-IN" b="1" dirty="0"/>
              <a:t>2. </a:t>
            </a:r>
            <a:r>
              <a:rPr lang="en-IN" dirty="0"/>
              <a:t>Use elementary row operations to rewrite the matrix in row-echelon form.</a:t>
            </a:r>
          </a:p>
          <a:p>
            <a:pPr marL="342900" indent="-342900"/>
            <a:r>
              <a:rPr lang="en-IN" b="1" dirty="0"/>
              <a:t>3. </a:t>
            </a:r>
            <a:r>
              <a:rPr lang="en-IN" dirty="0"/>
              <a:t>Write the system of linear equations corresponding to the matrix in row-echelon form, and use back-substitution to find the solution.</a:t>
            </a:r>
          </a:p>
        </p:txBody>
      </p:sp>
    </p:spTree>
    <p:extLst>
      <p:ext uri="{BB962C8B-B14F-4D97-AF65-F5344CB8AC3E}">
        <p14:creationId xmlns:p14="http://schemas.microsoft.com/office/powerpoint/2010/main" val="1529843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2500" dirty="0"/>
              <a:t>Example 5 </a:t>
            </a:r>
            <a:r>
              <a:rPr lang="en-US" sz="2500" dirty="0"/>
              <a:t>– </a:t>
            </a:r>
            <a:r>
              <a:rPr lang="en-IN" sz="2500" dirty="0"/>
              <a:t>Gaussian Elimination with Back-Substitution</a:t>
            </a:r>
          </a:p>
        </p:txBody>
      </p:sp>
      <p:sp>
        <p:nvSpPr>
          <p:cNvPr id="3" name="Text Placeholder 2"/>
          <p:cNvSpPr>
            <a:spLocks noGrp="1"/>
          </p:cNvSpPr>
          <p:nvPr>
            <p:ph type="body" sz="quarter" idx="13"/>
          </p:nvPr>
        </p:nvSpPr>
        <p:spPr>
          <a:xfrm>
            <a:off x="457200" y="1444751"/>
            <a:ext cx="8335962" cy="3645041"/>
          </a:xfrm>
        </p:spPr>
        <p:txBody>
          <a:bodyPr/>
          <a:lstStyle/>
          <a:p>
            <a:r>
              <a:rPr lang="en-US" dirty="0"/>
              <a:t>Solve the system.</a:t>
            </a:r>
          </a:p>
          <a:p>
            <a:r>
              <a:rPr lang="en-US" i="1" dirty="0"/>
              <a:t>           x</a:t>
            </a:r>
            <a:r>
              <a:rPr lang="en-US" baseline="-25000" dirty="0"/>
              <a:t>2</a:t>
            </a:r>
            <a:r>
              <a:rPr lang="en-US" dirty="0"/>
              <a:t> + </a:t>
            </a:r>
            <a:r>
              <a:rPr lang="en-US" i="1" dirty="0"/>
              <a:t>x</a:t>
            </a:r>
            <a:r>
              <a:rPr lang="en-US" baseline="-25000" dirty="0"/>
              <a:t>3</a:t>
            </a:r>
            <a:r>
              <a:rPr lang="en-US" dirty="0"/>
              <a:t> − 2</a:t>
            </a:r>
            <a:r>
              <a:rPr lang="en-US" i="1" dirty="0"/>
              <a:t>x</a:t>
            </a:r>
            <a:r>
              <a:rPr lang="en-US" baseline="-25000" dirty="0"/>
              <a:t>4</a:t>
            </a:r>
            <a:r>
              <a:rPr lang="en-US" i="1" dirty="0"/>
              <a:t> </a:t>
            </a:r>
            <a:r>
              <a:rPr lang="en-US" dirty="0"/>
              <a:t>= −3</a:t>
            </a:r>
          </a:p>
          <a:p>
            <a:r>
              <a:rPr lang="en-US" i="1" dirty="0"/>
              <a:t>  x</a:t>
            </a:r>
            <a:r>
              <a:rPr lang="en-US" baseline="-25000" dirty="0"/>
              <a:t>1</a:t>
            </a:r>
            <a:r>
              <a:rPr lang="en-US" dirty="0"/>
              <a:t> + 2</a:t>
            </a:r>
            <a:r>
              <a:rPr lang="en-US" i="1" dirty="0"/>
              <a:t>x</a:t>
            </a:r>
            <a:r>
              <a:rPr lang="en-US" baseline="-25000" dirty="0"/>
              <a:t>2</a:t>
            </a:r>
            <a:r>
              <a:rPr lang="en-US" dirty="0"/>
              <a:t> − </a:t>
            </a:r>
            <a:r>
              <a:rPr lang="en-US" i="1" dirty="0"/>
              <a:t>x</a:t>
            </a:r>
            <a:r>
              <a:rPr lang="en-US" baseline="-25000" dirty="0"/>
              <a:t>3</a:t>
            </a:r>
            <a:r>
              <a:rPr lang="en-US" i="1" dirty="0"/>
              <a:t>          </a:t>
            </a:r>
            <a:r>
              <a:rPr lang="en-US" dirty="0"/>
              <a:t>= 2</a:t>
            </a:r>
          </a:p>
          <a:p>
            <a:r>
              <a:rPr lang="en-US" i="1" dirty="0"/>
              <a:t>2x</a:t>
            </a:r>
            <a:r>
              <a:rPr lang="en-US" baseline="-25000" dirty="0"/>
              <a:t>1</a:t>
            </a:r>
            <a:r>
              <a:rPr lang="en-US" dirty="0"/>
              <a:t> + 4</a:t>
            </a:r>
            <a:r>
              <a:rPr lang="en-US" i="1" dirty="0"/>
              <a:t>x</a:t>
            </a:r>
            <a:r>
              <a:rPr lang="en-US" baseline="-25000" dirty="0"/>
              <a:t>2</a:t>
            </a:r>
            <a:r>
              <a:rPr lang="en-US" dirty="0"/>
              <a:t> + </a:t>
            </a:r>
            <a:r>
              <a:rPr lang="en-US" i="1" dirty="0"/>
              <a:t>x</a:t>
            </a:r>
            <a:r>
              <a:rPr lang="en-US" baseline="-25000" dirty="0"/>
              <a:t>3</a:t>
            </a:r>
            <a:r>
              <a:rPr lang="en-US" dirty="0"/>
              <a:t> − 3</a:t>
            </a:r>
            <a:r>
              <a:rPr lang="en-US" i="1" dirty="0"/>
              <a:t>x</a:t>
            </a:r>
            <a:r>
              <a:rPr lang="en-US" baseline="-25000" dirty="0"/>
              <a:t>4</a:t>
            </a:r>
            <a:r>
              <a:rPr lang="en-US" i="1" dirty="0"/>
              <a:t> </a:t>
            </a:r>
            <a:r>
              <a:rPr lang="en-US" dirty="0"/>
              <a:t>= −2</a:t>
            </a:r>
          </a:p>
          <a:p>
            <a:r>
              <a:rPr lang="en-US" i="1" dirty="0"/>
              <a:t>  x</a:t>
            </a:r>
            <a:r>
              <a:rPr lang="en-US" baseline="-25000" dirty="0"/>
              <a:t>1 </a:t>
            </a:r>
            <a:r>
              <a:rPr lang="en-US" dirty="0"/>
              <a:t>− 4</a:t>
            </a:r>
            <a:r>
              <a:rPr lang="en-US" i="1" dirty="0"/>
              <a:t>x</a:t>
            </a:r>
            <a:r>
              <a:rPr lang="en-US" baseline="-25000" dirty="0"/>
              <a:t>2</a:t>
            </a:r>
            <a:r>
              <a:rPr lang="en-US" dirty="0"/>
              <a:t> − 7</a:t>
            </a:r>
            <a:r>
              <a:rPr lang="en-US" i="1" dirty="0"/>
              <a:t>x</a:t>
            </a:r>
            <a:r>
              <a:rPr lang="en-US" baseline="-25000" dirty="0"/>
              <a:t>3</a:t>
            </a:r>
            <a:r>
              <a:rPr lang="en-US" dirty="0"/>
              <a:t> − </a:t>
            </a:r>
            <a:r>
              <a:rPr lang="en-US" i="1" dirty="0"/>
              <a:t>x</a:t>
            </a:r>
            <a:r>
              <a:rPr lang="en-US" baseline="-25000" dirty="0"/>
              <a:t>4</a:t>
            </a:r>
            <a:r>
              <a:rPr lang="en-US" i="1" dirty="0"/>
              <a:t> </a:t>
            </a:r>
            <a:r>
              <a:rPr lang="en-US" dirty="0"/>
              <a:t>= −19</a:t>
            </a:r>
          </a:p>
          <a:p>
            <a:endParaRPr lang="en-US" sz="700" b="1" dirty="0">
              <a:solidFill>
                <a:srgbClr val="207BB8"/>
              </a:solidFill>
            </a:endParaRPr>
          </a:p>
          <a:p>
            <a:r>
              <a:rPr lang="en-IN" b="1" dirty="0">
                <a:solidFill>
                  <a:srgbClr val="207BB8"/>
                </a:solidFill>
              </a:rPr>
              <a:t>Solution:</a:t>
            </a:r>
          </a:p>
          <a:p>
            <a:r>
              <a:rPr lang="en-IN" dirty="0"/>
              <a:t>The augmented matrix for this system is</a:t>
            </a:r>
            <a:endParaRPr lang="en-IN" b="1" dirty="0">
              <a:solidFill>
                <a:srgbClr val="207BB8"/>
              </a:solidFill>
            </a:endParaRPr>
          </a:p>
        </p:txBody>
      </p:sp>
      <p:pic>
        <p:nvPicPr>
          <p:cNvPr id="9218" name="Picture 2" descr="Matrix(4, 5, [0, 1, 1, negative 2, negative 3, 1, 2, negative 1, 0, 2, 2, 4, 1, negative 3, negative 2, 1,negative 4, negative 7, negative 1, negative 19])."/>
          <p:cNvPicPr>
            <a:picLocks noGrp="1" noChangeAspect="1" noChangeArrowheads="1"/>
          </p:cNvPicPr>
          <p:nvPr>
            <p:ph type="pic" sz="quarter" idx="27"/>
          </p:nvPr>
        </p:nvPicPr>
        <p:blipFill>
          <a:blip r:embed="rId2" cstate="print">
            <a:extLst>
              <a:ext uri="{28A0092B-C50C-407E-A947-70E740481C1C}">
                <a14:useLocalDpi xmlns:a14="http://schemas.microsoft.com/office/drawing/2010/main" val="0"/>
              </a:ext>
            </a:extLst>
          </a:blip>
          <a:stretch>
            <a:fillRect/>
          </a:stretch>
        </p:blipFill>
        <p:spPr bwMode="auto">
          <a:xfrm>
            <a:off x="1953920" y="5195964"/>
            <a:ext cx="2979697" cy="1447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2BFCDBB0-6BD6-F744-0A40-33B1BD7199DE}"/>
              </a:ext>
            </a:extLst>
          </p:cNvPr>
          <p:cNvPicPr>
            <a:picLocks noChangeAspect="1"/>
          </p:cNvPicPr>
          <p:nvPr/>
        </p:nvPicPr>
        <p:blipFill>
          <a:blip r:embed="rId3"/>
          <a:stretch>
            <a:fillRect/>
          </a:stretch>
        </p:blipFill>
        <p:spPr>
          <a:xfrm>
            <a:off x="457199" y="4094219"/>
            <a:ext cx="5670331" cy="2582806"/>
          </a:xfrm>
          <a:prstGeom prst="rect">
            <a:avLst/>
          </a:prstGeom>
        </p:spPr>
      </p:pic>
    </p:spTree>
    <p:extLst>
      <p:ext uri="{BB962C8B-B14F-4D97-AF65-F5344CB8AC3E}">
        <p14:creationId xmlns:p14="http://schemas.microsoft.com/office/powerpoint/2010/main" val="207284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dirty="0"/>
              <a:t>Example 5 </a:t>
            </a:r>
            <a:r>
              <a:rPr lang="en-US" dirty="0"/>
              <a:t>– </a:t>
            </a:r>
            <a:r>
              <a:rPr lang="en-IN" dirty="0"/>
              <a:t>Solution (1 of 3)</a:t>
            </a:r>
            <a:r>
              <a:rPr lang="en-US" dirty="0"/>
              <a:t> </a:t>
            </a:r>
            <a:endParaRPr lang="en-IN" dirty="0"/>
          </a:p>
        </p:txBody>
      </p:sp>
      <p:sp>
        <p:nvSpPr>
          <p:cNvPr id="3" name="Text Placeholder 2"/>
          <p:cNvSpPr>
            <a:spLocks noGrp="1"/>
          </p:cNvSpPr>
          <p:nvPr>
            <p:ph type="body" sz="quarter" idx="13"/>
          </p:nvPr>
        </p:nvSpPr>
        <p:spPr>
          <a:xfrm>
            <a:off x="457200" y="1444752"/>
            <a:ext cx="8335962" cy="869823"/>
          </a:xfrm>
        </p:spPr>
        <p:txBody>
          <a:bodyPr/>
          <a:lstStyle/>
          <a:p>
            <a:r>
              <a:rPr lang="en-IN" dirty="0"/>
              <a:t>Obtain a leading 1 in the upper left corner and zeros elsewhere in the first column. </a:t>
            </a:r>
            <a:endParaRPr lang="en-IN" b="1" dirty="0">
              <a:solidFill>
                <a:srgbClr val="207BB8"/>
              </a:solidFill>
            </a:endParaRPr>
          </a:p>
        </p:txBody>
      </p:sp>
      <p:pic>
        <p:nvPicPr>
          <p:cNvPr id="10242" name="Picture 2" descr="A matrix contains 4 rows and five columns. Matrix (4, 5, [1, 2, negative 1, 0, 2, 0, 1, 1, negative 2, negative 3, 2, 4, 1, negative 3, negative 2, 1, negative 4, negative 7, negative 1, negative 19]). An arrow points to the first two rows with the following text: interchange the first two rows. R_1, a two-way arrow, R_2."/>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944563" y="2415845"/>
            <a:ext cx="659130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descr="Matrix(4, 5, [1, 2, negative 1, 0, 2, 0, 1, 1, negative 2, negative 3, 0,0, 3, negative 3, negative 6, 1, negative 4, negative 7, negative 1, negative 19]).&#10;An arrow points to the third row with the following text: “Adding negative 2 times the first row to the third row produces a new third row.”&#10;&#10;(Caption for row 3.) R_3 + (negative 2)R_1 right arrowR_1"/>
          <p:cNvPicPr>
            <a:picLocks noGrp="1" noChangeAspect="1" noChangeArrowheads="1"/>
          </p:cNvPicPr>
          <p:nvPr>
            <p:ph type="pic" sz="quarter" idx="27"/>
          </p:nvPr>
        </p:nvPicPr>
        <p:blipFill>
          <a:blip r:embed="rId3">
            <a:extLst>
              <a:ext uri="{28A0092B-C50C-407E-A947-70E740481C1C}">
                <a14:useLocalDpi xmlns:a14="http://schemas.microsoft.com/office/drawing/2010/main" val="0"/>
              </a:ext>
            </a:extLst>
          </a:blip>
          <a:stretch>
            <a:fillRect/>
          </a:stretch>
        </p:blipFill>
        <p:spPr bwMode="auto">
          <a:xfrm>
            <a:off x="934922" y="3829050"/>
            <a:ext cx="744855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descr="Matrix(4, 5, [1, 2, negative 1, 0, 2, 0, 1, 1, negative 2, negative 3, 0, 0, 3, negative 3, negative 6, 0, negative 6, negative 6, negative 1, negative 21]).&#10;An arrow points to the fourth row with the following text: Adding negative 1 times the first row to the fourth row produces a new fourth row.&#10;(Caption for row 4.)R_4 + (negative 1)R_1 right arrowR_4. The first column is shaded."/>
          <p:cNvPicPr>
            <a:picLocks noGrp="1" noChangeAspect="1" noChangeArrowheads="1"/>
          </p:cNvPicPr>
          <p:nvPr>
            <p:ph type="pic" sz="quarter" idx="27"/>
          </p:nvPr>
        </p:nvPicPr>
        <p:blipFill>
          <a:blip r:embed="rId4">
            <a:extLst>
              <a:ext uri="{28A0092B-C50C-407E-A947-70E740481C1C}">
                <a14:useLocalDpi xmlns:a14="http://schemas.microsoft.com/office/drawing/2010/main" val="0"/>
              </a:ext>
            </a:extLst>
          </a:blip>
          <a:stretch>
            <a:fillRect/>
          </a:stretch>
        </p:blipFill>
        <p:spPr bwMode="auto">
          <a:xfrm>
            <a:off x="988812" y="5305426"/>
            <a:ext cx="73914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6387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361949" y="180975"/>
            <a:ext cx="8425433" cy="1154049"/>
          </a:xfrm>
        </p:spPr>
        <p:txBody>
          <a:bodyPr>
            <a:normAutofit/>
          </a:bodyPr>
          <a:lstStyle/>
          <a:p>
            <a:r>
              <a:rPr lang="en-IN" dirty="0"/>
              <a:t>Example 5 </a:t>
            </a:r>
            <a:r>
              <a:rPr lang="en-US" dirty="0"/>
              <a:t>– </a:t>
            </a:r>
            <a:r>
              <a:rPr lang="en-IN" dirty="0"/>
              <a:t>Solution (2 of 3)</a:t>
            </a:r>
            <a:r>
              <a:rPr lang="en-US" dirty="0"/>
              <a:t> </a:t>
            </a:r>
            <a:endParaRPr lang="en-IN" dirty="0"/>
          </a:p>
        </p:txBody>
      </p:sp>
      <p:sp>
        <p:nvSpPr>
          <p:cNvPr id="3" name="Text Placeholder 2"/>
          <p:cNvSpPr>
            <a:spLocks noGrp="1"/>
          </p:cNvSpPr>
          <p:nvPr>
            <p:ph type="body" sz="quarter" idx="13"/>
          </p:nvPr>
        </p:nvSpPr>
        <p:spPr>
          <a:xfrm>
            <a:off x="457200" y="1444752"/>
            <a:ext cx="8335962" cy="869823"/>
          </a:xfrm>
        </p:spPr>
        <p:txBody>
          <a:bodyPr/>
          <a:lstStyle/>
          <a:p>
            <a:r>
              <a:rPr lang="en-IN" dirty="0"/>
              <a:t>Now that the first column is in the desired form, change the second column as shown </a:t>
            </a:r>
            <a:r>
              <a:rPr lang="en-US" dirty="0"/>
              <a:t>below.</a:t>
            </a:r>
            <a:endParaRPr lang="en-IN" b="1" dirty="0">
              <a:solidFill>
                <a:srgbClr val="207BB8"/>
              </a:solidFill>
            </a:endParaRPr>
          </a:p>
        </p:txBody>
      </p:sp>
      <p:pic>
        <p:nvPicPr>
          <p:cNvPr id="11266" name="Picture 2" descr="A matrix contains 4 rows and five columns. Matrix (4, 5, [1, 2, negative 1, 0, 2, 0, 1, 1, negative 2, negative 3, 0, 0, 3, negative 3, negative 6, 0, 0, 0, negative 13, negative 39]). An arrow points to the fourth row with the following text: Adding 6 times the second row to the fourth row produces a new fourth row. R_4 + (6)R_2, right arrow, R_4. The first column and the second column excluding the 2 are shaded."/>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956213" y="2457450"/>
            <a:ext cx="7124700"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Placeholder 2"/>
          <p:cNvSpPr>
            <a:spLocks noGrp="1"/>
          </p:cNvSpPr>
          <p:nvPr>
            <p:ph type="body" sz="quarter" idx="13"/>
          </p:nvPr>
        </p:nvSpPr>
        <p:spPr>
          <a:xfrm>
            <a:off x="457200" y="4026027"/>
            <a:ext cx="8335962" cy="869823"/>
          </a:xfrm>
        </p:spPr>
        <p:txBody>
          <a:bodyPr/>
          <a:lstStyle/>
          <a:p>
            <a:r>
              <a:rPr lang="en-IN" dirty="0"/>
              <a:t>To write the third and fourth columns in proper form, multiply the third row by</a:t>
            </a:r>
            <a:endParaRPr lang="en-IN" b="1" dirty="0">
              <a:solidFill>
                <a:srgbClr val="207BB8"/>
              </a:solidFill>
            </a:endParaRPr>
          </a:p>
        </p:txBody>
      </p:sp>
      <p:pic>
        <p:nvPicPr>
          <p:cNvPr id="11267" name="Picture 3" descr="1∕3"/>
          <p:cNvPicPr>
            <a:picLocks noGrp="1" noChangeAspect="1" noChangeArrowheads="1"/>
          </p:cNvPicPr>
          <p:nvPr>
            <p:ph type="pic" sz="quarter" idx="27"/>
          </p:nvPr>
        </p:nvPicPr>
        <p:blipFill>
          <a:blip r:embed="rId3">
            <a:extLst>
              <a:ext uri="{28A0092B-C50C-407E-A947-70E740481C1C}">
                <a14:useLocalDpi xmlns:a14="http://schemas.microsoft.com/office/drawing/2010/main" val="0"/>
              </a:ext>
            </a:extLst>
          </a:blip>
          <a:stretch>
            <a:fillRect/>
          </a:stretch>
        </p:blipFill>
        <p:spPr bwMode="auto">
          <a:xfrm>
            <a:off x="2687635" y="4417828"/>
            <a:ext cx="222885" cy="508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Placeholder 2"/>
          <p:cNvSpPr>
            <a:spLocks noGrp="1"/>
          </p:cNvSpPr>
          <p:nvPr>
            <p:ph type="body" sz="quarter" idx="13"/>
          </p:nvPr>
        </p:nvSpPr>
        <p:spPr>
          <a:xfrm>
            <a:off x="2876550" y="4416553"/>
            <a:ext cx="3076575" cy="536448"/>
          </a:xfrm>
        </p:spPr>
        <p:txBody>
          <a:bodyPr/>
          <a:lstStyle/>
          <a:p>
            <a:r>
              <a:rPr lang="en-US" dirty="0"/>
              <a:t>and the fourth row by</a:t>
            </a:r>
            <a:endParaRPr lang="en-IN" b="1" dirty="0">
              <a:solidFill>
                <a:srgbClr val="207BB8"/>
              </a:solidFill>
            </a:endParaRPr>
          </a:p>
        </p:txBody>
      </p:sp>
      <p:pic>
        <p:nvPicPr>
          <p:cNvPr id="11268" name="Picture 4" descr="Negative 1∕13."/>
          <p:cNvPicPr>
            <a:picLocks noGrp="1" noChangeAspect="1" noChangeArrowheads="1"/>
          </p:cNvPicPr>
          <p:nvPr>
            <p:ph type="pic" sz="quarter" idx="27"/>
          </p:nvPr>
        </p:nvPicPr>
        <p:blipFill>
          <a:blip r:embed="rId4">
            <a:extLst>
              <a:ext uri="{28A0092B-C50C-407E-A947-70E740481C1C}">
                <a14:useLocalDpi xmlns:a14="http://schemas.microsoft.com/office/drawing/2010/main" val="0"/>
              </a:ext>
            </a:extLst>
          </a:blip>
          <a:stretch>
            <a:fillRect/>
          </a:stretch>
        </p:blipFill>
        <p:spPr bwMode="auto">
          <a:xfrm>
            <a:off x="5847040" y="4456262"/>
            <a:ext cx="647780" cy="467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9" name="Picture 5" descr="A matrix contains 4 rows and five columns. Matrix (4, 5, [1, 2, negative 1, 0, 2, 0, 1, 1, negative 2, negative 3, 0, 0, 1, negative 1, negative 2, 0, 0, 0, 1, 3]). Two arrows each point to the third and fourth rows with the following text: Multiplying the third row by 1/3 and the fourth row by negative 1/13 produces new third and fourth rows. The first column, the second column excluding 2, the third column excluding negative 1 and 1 and the fourth column excluding 0, negative 2 and negative 1 are shaded."/>
          <p:cNvPicPr>
            <a:picLocks noGrp="1" noChangeAspect="1" noChangeArrowheads="1"/>
          </p:cNvPicPr>
          <p:nvPr>
            <p:ph type="pic" sz="quarter" idx="27"/>
          </p:nvPr>
        </p:nvPicPr>
        <p:blipFill>
          <a:blip r:embed="rId5">
            <a:extLst>
              <a:ext uri="{28A0092B-C50C-407E-A947-70E740481C1C}">
                <a14:useLocalDpi xmlns:a14="http://schemas.microsoft.com/office/drawing/2010/main" val="0"/>
              </a:ext>
            </a:extLst>
          </a:blip>
          <a:stretch>
            <a:fillRect/>
          </a:stretch>
        </p:blipFill>
        <p:spPr bwMode="auto">
          <a:xfrm>
            <a:off x="820739" y="5184456"/>
            <a:ext cx="7077075"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982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61949" y="180975"/>
            <a:ext cx="8425433" cy="1154049"/>
          </a:xfrm>
        </p:spPr>
        <p:txBody>
          <a:bodyPr>
            <a:normAutofit/>
          </a:bodyPr>
          <a:lstStyle/>
          <a:p>
            <a:r>
              <a:rPr lang="en-IN" dirty="0"/>
              <a:t>Example 5 </a:t>
            </a:r>
            <a:r>
              <a:rPr lang="en-US" dirty="0"/>
              <a:t>– </a:t>
            </a:r>
            <a:r>
              <a:rPr lang="en-IN" dirty="0"/>
              <a:t>Solution (3 of 3)</a:t>
            </a:r>
            <a:r>
              <a:rPr lang="en-US" dirty="0"/>
              <a:t> </a:t>
            </a:r>
            <a:endParaRPr lang="en-IN" dirty="0"/>
          </a:p>
        </p:txBody>
      </p:sp>
      <p:sp>
        <p:nvSpPr>
          <p:cNvPr id="3" name="Text Placeholder 2"/>
          <p:cNvSpPr>
            <a:spLocks noGrp="1"/>
          </p:cNvSpPr>
          <p:nvPr>
            <p:ph type="body" sz="quarter" idx="13"/>
          </p:nvPr>
        </p:nvSpPr>
        <p:spPr>
          <a:xfrm>
            <a:off x="457201" y="1444752"/>
            <a:ext cx="7867650" cy="4508373"/>
          </a:xfrm>
        </p:spPr>
        <p:txBody>
          <a:bodyPr/>
          <a:lstStyle/>
          <a:p>
            <a:r>
              <a:rPr lang="en-IN" dirty="0"/>
              <a:t>The matrix is now in row-echelon form, and the corresponding system is shown below.</a:t>
            </a:r>
          </a:p>
          <a:p>
            <a:endParaRPr lang="en-IN" sz="1000" b="1" dirty="0">
              <a:solidFill>
                <a:srgbClr val="207BB8"/>
              </a:solidFill>
            </a:endParaRPr>
          </a:p>
          <a:p>
            <a:r>
              <a:rPr lang="en-US" i="1" dirty="0"/>
              <a:t>      x</a:t>
            </a:r>
            <a:r>
              <a:rPr lang="en-US" baseline="-25000" dirty="0"/>
              <a:t>1</a:t>
            </a:r>
            <a:r>
              <a:rPr lang="en-US" dirty="0"/>
              <a:t> + 2</a:t>
            </a:r>
            <a:r>
              <a:rPr lang="en-US" i="1" dirty="0"/>
              <a:t>x</a:t>
            </a:r>
            <a:r>
              <a:rPr lang="en-US" baseline="-25000" dirty="0"/>
              <a:t>2</a:t>
            </a:r>
            <a:r>
              <a:rPr lang="en-US" dirty="0"/>
              <a:t> − </a:t>
            </a:r>
            <a:r>
              <a:rPr lang="en-US" i="1" dirty="0"/>
              <a:t>x</a:t>
            </a:r>
            <a:r>
              <a:rPr lang="en-US" baseline="-25000" dirty="0"/>
              <a:t>3</a:t>
            </a:r>
            <a:r>
              <a:rPr lang="en-US" i="1" dirty="0"/>
              <a:t>         </a:t>
            </a:r>
            <a:r>
              <a:rPr lang="en-US" dirty="0"/>
              <a:t>= 2</a:t>
            </a:r>
          </a:p>
          <a:p>
            <a:r>
              <a:rPr lang="en-US" i="1" dirty="0"/>
              <a:t>              x</a:t>
            </a:r>
            <a:r>
              <a:rPr lang="en-US" i="1" baseline="-25000" dirty="0"/>
              <a:t>2</a:t>
            </a:r>
            <a:r>
              <a:rPr lang="en-US" dirty="0"/>
              <a:t> + </a:t>
            </a:r>
            <a:r>
              <a:rPr lang="en-US" i="1" dirty="0"/>
              <a:t>x</a:t>
            </a:r>
            <a:r>
              <a:rPr lang="en-US" baseline="-25000" dirty="0"/>
              <a:t>3</a:t>
            </a:r>
            <a:r>
              <a:rPr lang="en-US" dirty="0"/>
              <a:t> − 2</a:t>
            </a:r>
            <a:r>
              <a:rPr lang="en-US" i="1" dirty="0"/>
              <a:t>x</a:t>
            </a:r>
            <a:r>
              <a:rPr lang="en-US" baseline="-25000" dirty="0"/>
              <a:t>4</a:t>
            </a:r>
            <a:r>
              <a:rPr lang="en-US" i="1" dirty="0"/>
              <a:t> </a:t>
            </a:r>
            <a:r>
              <a:rPr lang="en-US" dirty="0"/>
              <a:t>= −3</a:t>
            </a:r>
          </a:p>
          <a:p>
            <a:r>
              <a:rPr lang="en-US" i="1" dirty="0"/>
              <a:t>                       x</a:t>
            </a:r>
            <a:r>
              <a:rPr lang="en-US" baseline="-25000" dirty="0"/>
              <a:t>3</a:t>
            </a:r>
            <a:r>
              <a:rPr lang="en-US" dirty="0"/>
              <a:t> − </a:t>
            </a:r>
            <a:r>
              <a:rPr lang="en-US" i="1" dirty="0"/>
              <a:t>x</a:t>
            </a:r>
            <a:r>
              <a:rPr lang="en-US" baseline="-25000" dirty="0"/>
              <a:t>4</a:t>
            </a:r>
            <a:r>
              <a:rPr lang="en-US" i="1" dirty="0"/>
              <a:t> </a:t>
            </a:r>
            <a:r>
              <a:rPr lang="en-US" dirty="0"/>
              <a:t>= −2</a:t>
            </a:r>
          </a:p>
          <a:p>
            <a:r>
              <a:rPr lang="en-US" i="1" dirty="0"/>
              <a:t>                              x</a:t>
            </a:r>
            <a:r>
              <a:rPr lang="en-US" baseline="-25000" dirty="0"/>
              <a:t>4</a:t>
            </a:r>
            <a:r>
              <a:rPr lang="en-US" i="1" dirty="0"/>
              <a:t> </a:t>
            </a:r>
            <a:r>
              <a:rPr lang="en-US" dirty="0"/>
              <a:t>= 3</a:t>
            </a:r>
          </a:p>
          <a:p>
            <a:endParaRPr lang="en-US" b="1" dirty="0">
              <a:solidFill>
                <a:srgbClr val="207BB8"/>
              </a:solidFill>
            </a:endParaRPr>
          </a:p>
          <a:p>
            <a:r>
              <a:rPr lang="en-IN" dirty="0"/>
              <a:t>Use back-substitution to find that the solution is </a:t>
            </a:r>
            <a:r>
              <a:rPr lang="en-IN" i="1" dirty="0"/>
              <a:t>x</a:t>
            </a:r>
            <a:r>
              <a:rPr lang="en-IN" baseline="-25000" dirty="0"/>
              <a:t>1</a:t>
            </a:r>
            <a:r>
              <a:rPr lang="en-IN" dirty="0"/>
              <a:t> = −1, </a:t>
            </a:r>
            <a:r>
              <a:rPr lang="en-IN" i="1" dirty="0"/>
              <a:t>x</a:t>
            </a:r>
            <a:r>
              <a:rPr lang="en-IN" baseline="-25000" dirty="0"/>
              <a:t>2</a:t>
            </a:r>
            <a:r>
              <a:rPr lang="en-IN" dirty="0"/>
              <a:t> = 2, </a:t>
            </a:r>
            <a:r>
              <a:rPr lang="en-IN" i="1" dirty="0"/>
              <a:t>x</a:t>
            </a:r>
            <a:r>
              <a:rPr lang="en-IN" baseline="-25000" dirty="0"/>
              <a:t>3</a:t>
            </a:r>
            <a:r>
              <a:rPr lang="en-IN" dirty="0"/>
              <a:t> = 1, and </a:t>
            </a:r>
            <a:r>
              <a:rPr lang="en-IN" i="1" dirty="0"/>
              <a:t>x</a:t>
            </a:r>
            <a:r>
              <a:rPr lang="en-IN" baseline="-25000" dirty="0"/>
              <a:t>4</a:t>
            </a:r>
            <a:r>
              <a:rPr lang="en-IN" dirty="0"/>
              <a:t> = 3.</a:t>
            </a:r>
            <a:endParaRPr lang="en-IN" b="1" dirty="0">
              <a:solidFill>
                <a:srgbClr val="207BB8"/>
              </a:solidFill>
            </a:endParaRPr>
          </a:p>
        </p:txBody>
      </p:sp>
    </p:spTree>
    <p:extLst>
      <p:ext uri="{BB962C8B-B14F-4D97-AF65-F5344CB8AC3E}">
        <p14:creationId xmlns:p14="http://schemas.microsoft.com/office/powerpoint/2010/main" val="2904961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207BB8"/>
                </a:solidFill>
              </a:rPr>
              <a:t>Gauss-Jordan Elimination</a:t>
            </a:r>
          </a:p>
        </p:txBody>
      </p:sp>
    </p:spTree>
    <p:extLst>
      <p:ext uri="{BB962C8B-B14F-4D97-AF65-F5344CB8AC3E}">
        <p14:creationId xmlns:p14="http://schemas.microsoft.com/office/powerpoint/2010/main" val="2062350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6615" y="192024"/>
            <a:ext cx="8430768" cy="1143000"/>
          </a:xfrm>
        </p:spPr>
        <p:txBody>
          <a:bodyPr>
            <a:normAutofit/>
          </a:bodyPr>
          <a:lstStyle/>
          <a:p>
            <a:r>
              <a:rPr lang="en-IN" dirty="0"/>
              <a:t>Gauss-Jordan Elimination </a:t>
            </a:r>
            <a:r>
              <a:rPr lang="en-US" dirty="0"/>
              <a:t>(1 of 1)</a:t>
            </a:r>
            <a:endParaRPr lang="en-IN" dirty="0"/>
          </a:p>
        </p:txBody>
      </p:sp>
      <p:sp>
        <p:nvSpPr>
          <p:cNvPr id="3" name="Text Placeholder 2"/>
          <p:cNvSpPr>
            <a:spLocks noGrp="1"/>
          </p:cNvSpPr>
          <p:nvPr>
            <p:ph type="body" sz="quarter" idx="13"/>
          </p:nvPr>
        </p:nvSpPr>
        <p:spPr>
          <a:xfrm>
            <a:off x="457200" y="1444752"/>
            <a:ext cx="8335962" cy="3182332"/>
          </a:xfrm>
        </p:spPr>
        <p:txBody>
          <a:bodyPr/>
          <a:lstStyle/>
          <a:p>
            <a:r>
              <a:rPr lang="en-IN" dirty="0"/>
              <a:t>With Gaussian elimination, you apply elementary row operations to a matrix to obtain a (row-equivalent) row-echelon form. A second method of elimination, called </a:t>
            </a:r>
            <a:r>
              <a:rPr lang="en-US" b="1" dirty="0"/>
              <a:t>Gauss-Jordan elimination </a:t>
            </a:r>
            <a:r>
              <a:rPr lang="en-US" dirty="0"/>
              <a:t>after Carl Friedrich Gauss and Wilhelm Jordan (1842–1899), </a:t>
            </a:r>
            <a:r>
              <a:rPr lang="en-IN" dirty="0"/>
              <a:t>continues the reduction process until a </a:t>
            </a:r>
            <a:r>
              <a:rPr lang="en-IN" i="1" dirty="0"/>
              <a:t>reduced </a:t>
            </a:r>
            <a:r>
              <a:rPr lang="en-IN" dirty="0"/>
              <a:t>row-echelon form is obtained.</a:t>
            </a:r>
          </a:p>
        </p:txBody>
      </p:sp>
    </p:spTree>
    <p:extLst>
      <p:ext uri="{BB962C8B-B14F-4D97-AF65-F5344CB8AC3E}">
        <p14:creationId xmlns:p14="http://schemas.microsoft.com/office/powerpoint/2010/main" val="1856230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3700" dirty="0"/>
              <a:t>Example 7 </a:t>
            </a:r>
            <a:r>
              <a:rPr lang="en-US" sz="3700" dirty="0"/>
              <a:t>– </a:t>
            </a:r>
            <a:r>
              <a:rPr lang="en-IN" sz="3700" dirty="0"/>
              <a:t>Gauss-Jordan Elimination</a:t>
            </a:r>
          </a:p>
        </p:txBody>
      </p:sp>
      <p:sp>
        <p:nvSpPr>
          <p:cNvPr id="3" name="Text Placeholder 2"/>
          <p:cNvSpPr>
            <a:spLocks noGrp="1"/>
          </p:cNvSpPr>
          <p:nvPr>
            <p:ph type="body" sz="quarter" idx="13"/>
          </p:nvPr>
        </p:nvSpPr>
        <p:spPr>
          <a:xfrm>
            <a:off x="457200" y="1444751"/>
            <a:ext cx="8335962" cy="3744193"/>
          </a:xfrm>
        </p:spPr>
        <p:txBody>
          <a:bodyPr/>
          <a:lstStyle/>
          <a:p>
            <a:r>
              <a:rPr lang="en-IN" dirty="0"/>
              <a:t>Use Gauss-Jordan elimination to solve the system.</a:t>
            </a:r>
          </a:p>
          <a:p>
            <a:r>
              <a:rPr lang="en-US" i="1" dirty="0"/>
              <a:t>  x</a:t>
            </a:r>
            <a:r>
              <a:rPr lang="en-US" dirty="0"/>
              <a:t> − 2</a:t>
            </a:r>
            <a:r>
              <a:rPr lang="en-US" i="1" dirty="0"/>
              <a:t>y</a:t>
            </a:r>
            <a:r>
              <a:rPr lang="en-US" dirty="0"/>
              <a:t> + 3</a:t>
            </a:r>
            <a:r>
              <a:rPr lang="en-US" i="1" dirty="0"/>
              <a:t>z </a:t>
            </a:r>
            <a:r>
              <a:rPr lang="en-US" dirty="0"/>
              <a:t>=   9</a:t>
            </a:r>
          </a:p>
          <a:p>
            <a:r>
              <a:rPr lang="en-US" dirty="0"/>
              <a:t>−</a:t>
            </a:r>
            <a:r>
              <a:rPr lang="en-US" i="1" dirty="0"/>
              <a:t>x</a:t>
            </a:r>
            <a:r>
              <a:rPr lang="en-US" dirty="0"/>
              <a:t> + 3</a:t>
            </a:r>
            <a:r>
              <a:rPr lang="en-US" i="1" dirty="0"/>
              <a:t>y </a:t>
            </a:r>
            <a:r>
              <a:rPr lang="en-US" dirty="0"/>
              <a:t>        = −4</a:t>
            </a:r>
          </a:p>
          <a:p>
            <a:r>
              <a:rPr lang="en-US" dirty="0"/>
              <a:t>2</a:t>
            </a:r>
            <a:r>
              <a:rPr lang="en-US" i="1" dirty="0"/>
              <a:t>x</a:t>
            </a:r>
            <a:r>
              <a:rPr lang="en-US" dirty="0"/>
              <a:t> − 5</a:t>
            </a:r>
            <a:r>
              <a:rPr lang="en-US" i="1" dirty="0"/>
              <a:t>y + </a:t>
            </a:r>
            <a:r>
              <a:rPr lang="en-US" dirty="0"/>
              <a:t>5</a:t>
            </a:r>
            <a:r>
              <a:rPr lang="en-US" i="1" dirty="0"/>
              <a:t>z</a:t>
            </a:r>
            <a:r>
              <a:rPr lang="en-US" dirty="0"/>
              <a:t> = 17</a:t>
            </a:r>
          </a:p>
          <a:p>
            <a:endParaRPr lang="en-US" b="1" dirty="0">
              <a:solidFill>
                <a:srgbClr val="207BB8"/>
              </a:solidFill>
            </a:endParaRPr>
          </a:p>
          <a:p>
            <a:r>
              <a:rPr lang="en-IN" b="1" dirty="0">
                <a:solidFill>
                  <a:srgbClr val="207BB8"/>
                </a:solidFill>
              </a:rPr>
              <a:t>Solution:</a:t>
            </a:r>
          </a:p>
          <a:p>
            <a:r>
              <a:rPr lang="en-IN" dirty="0"/>
              <a:t>You used Gaussian elimination to obtain the row-echelon form</a:t>
            </a:r>
            <a:endParaRPr lang="en-IN" b="1" dirty="0">
              <a:solidFill>
                <a:srgbClr val="207BB8"/>
              </a:solidFill>
            </a:endParaRPr>
          </a:p>
        </p:txBody>
      </p:sp>
      <p:pic>
        <p:nvPicPr>
          <p:cNvPr id="7170" name="Picture 2" descr="A matrix with three rows and four columns. Matrix (3, 4, [1, negative 2, 3, 9, 0, 1, 3, 5, 0, 0, 1, 2]). 1 in row 1, 0 and 1 in row 2, and 0, 0, 1 in row 3 are shaded."/>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1563689" y="5278234"/>
            <a:ext cx="280987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636654A9-E2F0-ACA8-6DA4-938E4D837A67}"/>
              </a:ext>
            </a:extLst>
          </p:cNvPr>
          <p:cNvPicPr>
            <a:picLocks noChangeAspect="1"/>
          </p:cNvPicPr>
          <p:nvPr/>
        </p:nvPicPr>
        <p:blipFill>
          <a:blip r:embed="rId3"/>
          <a:stretch>
            <a:fillRect/>
          </a:stretch>
        </p:blipFill>
        <p:spPr>
          <a:xfrm>
            <a:off x="457199" y="3958967"/>
            <a:ext cx="7972097" cy="2538467"/>
          </a:xfrm>
          <a:prstGeom prst="rect">
            <a:avLst/>
          </a:prstGeom>
        </p:spPr>
      </p:pic>
    </p:spTree>
    <p:extLst>
      <p:ext uri="{BB962C8B-B14F-4D97-AF65-F5344CB8AC3E}">
        <p14:creationId xmlns:p14="http://schemas.microsoft.com/office/powerpoint/2010/main" val="334517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1949" y="180975"/>
            <a:ext cx="8425433" cy="1154049"/>
          </a:xfrm>
        </p:spPr>
        <p:txBody>
          <a:bodyPr>
            <a:normAutofit/>
          </a:bodyPr>
          <a:lstStyle/>
          <a:p>
            <a:r>
              <a:rPr lang="en-IN" dirty="0"/>
              <a:t>Example 7 </a:t>
            </a:r>
            <a:r>
              <a:rPr lang="en-US" dirty="0"/>
              <a:t>– </a:t>
            </a:r>
            <a:r>
              <a:rPr lang="en-IN" dirty="0"/>
              <a:t>Solution (1 of 2)</a:t>
            </a:r>
            <a:r>
              <a:rPr lang="en-US" dirty="0"/>
              <a:t> </a:t>
            </a:r>
            <a:endParaRPr lang="en-IN" dirty="0"/>
          </a:p>
        </p:txBody>
      </p:sp>
      <p:sp>
        <p:nvSpPr>
          <p:cNvPr id="3" name="Text Placeholder 2"/>
          <p:cNvSpPr>
            <a:spLocks noGrp="1"/>
          </p:cNvSpPr>
          <p:nvPr>
            <p:ph type="body" sz="quarter" idx="13"/>
          </p:nvPr>
        </p:nvSpPr>
        <p:spPr>
          <a:xfrm>
            <a:off x="457200" y="1444752"/>
            <a:ext cx="8335962" cy="912858"/>
          </a:xfrm>
        </p:spPr>
        <p:txBody>
          <a:bodyPr/>
          <a:lstStyle/>
          <a:p>
            <a:r>
              <a:rPr lang="en-IN" dirty="0"/>
              <a:t>Now, apply elementary row operations until you obtain zeros above each of the leading </a:t>
            </a:r>
            <a:r>
              <a:rPr lang="en-US" dirty="0"/>
              <a:t>1’s, as shown below.</a:t>
            </a:r>
            <a:endParaRPr lang="en-US" b="1" dirty="0">
              <a:solidFill>
                <a:srgbClr val="207BB8"/>
              </a:solidFill>
            </a:endParaRPr>
          </a:p>
        </p:txBody>
      </p:sp>
      <p:pic>
        <p:nvPicPr>
          <p:cNvPr id="8194" name="Picture 2" descr="Matrices with three rows and four columns. Matrix (3, 4, [1, 0, 9, 19, 0, 1, 3, 5, 0, 0, 1, 2]). 1 and 0 in row 1, 0 and 1 in row 2, 0, 0 and 1 in row 3 are shaded. R_1 + (2) R_2, right arrow, R_1. Matrix (3, 4, [1, 0, 9, 19, 0, 1, 0, negative 1, 0, 0, 1, 2]). 1 and 0 in row 1, 0, 1 and 0 in row 2, and 0, 0 and 1 in row 3 are shaded. R_2 + (negative 3) R_3, right arrow, R_2. Matrix (3, 4, [1, 0, 0, 1, 0, 1, 0, negative 1, 0, 0, 1, 2]). The first 3 columns are shaded. R_1 + (negative 9) R_3, right arrow, R_1."/>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1593214" y="2441449"/>
            <a:ext cx="5008248" cy="3383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4792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61949" y="180975"/>
            <a:ext cx="8425433" cy="1154049"/>
          </a:xfrm>
        </p:spPr>
        <p:txBody>
          <a:bodyPr>
            <a:normAutofit/>
          </a:bodyPr>
          <a:lstStyle/>
          <a:p>
            <a:r>
              <a:rPr lang="en-IN" dirty="0"/>
              <a:t>Example 7 </a:t>
            </a:r>
            <a:r>
              <a:rPr lang="en-US" dirty="0"/>
              <a:t>– </a:t>
            </a:r>
            <a:r>
              <a:rPr lang="en-IN" dirty="0"/>
              <a:t>Solution (2 of 2)</a:t>
            </a:r>
            <a:r>
              <a:rPr lang="en-US" dirty="0"/>
              <a:t> </a:t>
            </a:r>
            <a:endParaRPr lang="en-IN" dirty="0"/>
          </a:p>
        </p:txBody>
      </p:sp>
      <p:sp>
        <p:nvSpPr>
          <p:cNvPr id="3" name="Text Placeholder 2"/>
          <p:cNvSpPr>
            <a:spLocks noGrp="1"/>
          </p:cNvSpPr>
          <p:nvPr>
            <p:ph type="body" sz="quarter" idx="13"/>
          </p:nvPr>
        </p:nvSpPr>
        <p:spPr>
          <a:xfrm>
            <a:off x="457200" y="1444752"/>
            <a:ext cx="8335962" cy="2660523"/>
          </a:xfrm>
        </p:spPr>
        <p:txBody>
          <a:bodyPr/>
          <a:lstStyle/>
          <a:p>
            <a:r>
              <a:rPr lang="en-IN" dirty="0"/>
              <a:t>The matrix is now in reduced row-echelon form. Converting back to a system of linear </a:t>
            </a:r>
            <a:r>
              <a:rPr lang="en-US" dirty="0"/>
              <a:t>equations, you have</a:t>
            </a:r>
          </a:p>
          <a:p>
            <a:r>
              <a:rPr lang="en-US" i="1" dirty="0"/>
              <a:t>    x </a:t>
            </a:r>
            <a:r>
              <a:rPr lang="en-US" dirty="0"/>
              <a:t>=   1</a:t>
            </a:r>
          </a:p>
          <a:p>
            <a:r>
              <a:rPr lang="en-US" i="1" dirty="0"/>
              <a:t>    y </a:t>
            </a:r>
            <a:r>
              <a:rPr lang="en-US" dirty="0"/>
              <a:t>= −1</a:t>
            </a:r>
          </a:p>
          <a:p>
            <a:r>
              <a:rPr lang="en-US" i="1" dirty="0"/>
              <a:t>    z </a:t>
            </a:r>
            <a:r>
              <a:rPr lang="en-US" dirty="0"/>
              <a:t>=   2.</a:t>
            </a:r>
            <a:endParaRPr lang="en-US" b="1" dirty="0">
              <a:solidFill>
                <a:srgbClr val="207BB8"/>
              </a:solidFill>
            </a:endParaRPr>
          </a:p>
        </p:txBody>
      </p:sp>
    </p:spTree>
    <p:extLst>
      <p:ext uri="{BB962C8B-B14F-4D97-AF65-F5344CB8AC3E}">
        <p14:creationId xmlns:p14="http://schemas.microsoft.com/office/powerpoint/2010/main" val="3207181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207BB8"/>
                </a:solidFill>
              </a:rPr>
              <a:t>Homogeneous Systems of Linear Equations</a:t>
            </a:r>
          </a:p>
        </p:txBody>
      </p:sp>
    </p:spTree>
    <p:extLst>
      <p:ext uri="{BB962C8B-B14F-4D97-AF65-F5344CB8AC3E}">
        <p14:creationId xmlns:p14="http://schemas.microsoft.com/office/powerpoint/2010/main" val="372609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6615" y="192024"/>
            <a:ext cx="8430768" cy="1143000"/>
          </a:xfrm>
        </p:spPr>
        <p:txBody>
          <a:bodyPr>
            <a:normAutofit/>
          </a:bodyPr>
          <a:lstStyle/>
          <a:p>
            <a:r>
              <a:rPr lang="en-IN" sz="2600" dirty="0"/>
              <a:t>Homogeneous Systems of Linear Equations </a:t>
            </a:r>
            <a:r>
              <a:rPr lang="en-US" sz="2600" dirty="0"/>
              <a:t>(1 of 2)</a:t>
            </a:r>
            <a:endParaRPr lang="en-IN" sz="2600" dirty="0"/>
          </a:p>
        </p:txBody>
      </p:sp>
      <p:sp>
        <p:nvSpPr>
          <p:cNvPr id="3" name="Text Placeholder 2"/>
          <p:cNvSpPr>
            <a:spLocks noGrp="1"/>
          </p:cNvSpPr>
          <p:nvPr>
            <p:ph type="body" sz="quarter" idx="13"/>
          </p:nvPr>
        </p:nvSpPr>
        <p:spPr>
          <a:xfrm>
            <a:off x="457200" y="1444752"/>
            <a:ext cx="8335962" cy="1250823"/>
          </a:xfrm>
        </p:spPr>
        <p:txBody>
          <a:bodyPr/>
          <a:lstStyle/>
          <a:p>
            <a:r>
              <a:rPr lang="en-IN" dirty="0"/>
              <a:t>Systems of linear equations in which each of the constant terms is zero are called </a:t>
            </a:r>
            <a:r>
              <a:rPr lang="en-IN" b="1" dirty="0"/>
              <a:t>homogeneous. </a:t>
            </a:r>
            <a:r>
              <a:rPr lang="en-IN" dirty="0"/>
              <a:t>A homogeneous system of </a:t>
            </a:r>
            <a:r>
              <a:rPr lang="en-IN" i="1" dirty="0"/>
              <a:t>m </a:t>
            </a:r>
            <a:r>
              <a:rPr lang="en-IN" dirty="0"/>
              <a:t>equations in </a:t>
            </a:r>
            <a:r>
              <a:rPr lang="en-IN" i="1" dirty="0"/>
              <a:t>n </a:t>
            </a:r>
            <a:r>
              <a:rPr lang="en-IN" dirty="0"/>
              <a:t>variables has the form</a:t>
            </a:r>
          </a:p>
        </p:txBody>
      </p:sp>
      <p:pic>
        <p:nvPicPr>
          <p:cNvPr id="4098" name="Picture 2" descr="a_11 x_1 + a_12 x_2 + a_13 x_3 + … + a_1n x_n = 0&#10;a_21 x_1 + a_22 x_2 + a_23 x_3 + … + a_2n x_n = 0&#10;&#10;a_m1 x_1 + a_m2 x_2 + a_m3 x_3 + … + a_m n x_n = 0."/>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1176636" y="2841664"/>
            <a:ext cx="6557582" cy="175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2"/>
          <p:cNvSpPr>
            <a:spLocks noGrp="1"/>
          </p:cNvSpPr>
          <p:nvPr>
            <p:ph type="body" sz="quarter" idx="13"/>
          </p:nvPr>
        </p:nvSpPr>
        <p:spPr>
          <a:xfrm>
            <a:off x="457200" y="4807077"/>
            <a:ext cx="8335962" cy="1582706"/>
          </a:xfrm>
        </p:spPr>
        <p:txBody>
          <a:bodyPr/>
          <a:lstStyle/>
          <a:p>
            <a:r>
              <a:rPr lang="en-IN" dirty="0"/>
              <a:t>A homogeneous system must have at least one solution. Specifically, if all variables in a homogeneous system have the value zero, then each of the equations is satisfied. Such a solution is </a:t>
            </a:r>
            <a:r>
              <a:rPr lang="en-IN" b="1" dirty="0"/>
              <a:t>trivial </a:t>
            </a:r>
            <a:r>
              <a:rPr lang="en-IN" dirty="0"/>
              <a:t>(or obvious).</a:t>
            </a:r>
          </a:p>
        </p:txBody>
      </p:sp>
    </p:spTree>
    <p:extLst>
      <p:ext uri="{BB962C8B-B14F-4D97-AF65-F5344CB8AC3E}">
        <p14:creationId xmlns:p14="http://schemas.microsoft.com/office/powerpoint/2010/main" val="1942927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49" y="180975"/>
            <a:ext cx="8425433" cy="1154049"/>
          </a:xfrm>
        </p:spPr>
        <p:txBody>
          <a:bodyPr>
            <a:normAutofit/>
          </a:bodyPr>
          <a:lstStyle/>
          <a:p>
            <a:r>
              <a:rPr lang="en-IN" sz="2200" dirty="0"/>
              <a:t>Example 9 </a:t>
            </a:r>
            <a:r>
              <a:rPr lang="en-US" sz="2200" dirty="0"/>
              <a:t>– </a:t>
            </a:r>
            <a:r>
              <a:rPr lang="en-IN" sz="2200" dirty="0"/>
              <a:t>Solving a Homogeneous System of Linear Equations</a:t>
            </a:r>
          </a:p>
        </p:txBody>
      </p:sp>
      <p:sp>
        <p:nvSpPr>
          <p:cNvPr id="3" name="Text Placeholder 2"/>
          <p:cNvSpPr>
            <a:spLocks noGrp="1"/>
          </p:cNvSpPr>
          <p:nvPr>
            <p:ph type="body" sz="quarter" idx="13"/>
          </p:nvPr>
        </p:nvSpPr>
        <p:spPr>
          <a:xfrm>
            <a:off x="457200" y="1444752"/>
            <a:ext cx="8335962" cy="2993898"/>
          </a:xfrm>
        </p:spPr>
        <p:txBody>
          <a:bodyPr/>
          <a:lstStyle/>
          <a:p>
            <a:r>
              <a:rPr lang="en-IN" dirty="0"/>
              <a:t>Solve the system of linear equations.</a:t>
            </a:r>
          </a:p>
          <a:p>
            <a:r>
              <a:rPr lang="en-US" i="1" dirty="0"/>
              <a:t>  x</a:t>
            </a:r>
            <a:r>
              <a:rPr lang="en-US" baseline="-25000" dirty="0"/>
              <a:t>1</a:t>
            </a:r>
            <a:r>
              <a:rPr lang="en-US" dirty="0"/>
              <a:t> − </a:t>
            </a:r>
            <a:r>
              <a:rPr lang="en-US" i="1" dirty="0"/>
              <a:t>x</a:t>
            </a:r>
            <a:r>
              <a:rPr lang="en-US" baseline="-25000" dirty="0"/>
              <a:t>2</a:t>
            </a:r>
            <a:r>
              <a:rPr lang="en-US" dirty="0"/>
              <a:t> + 3</a:t>
            </a:r>
            <a:r>
              <a:rPr lang="en-US" i="1" dirty="0"/>
              <a:t>x</a:t>
            </a:r>
            <a:r>
              <a:rPr lang="en-US" baseline="-25000" dirty="0"/>
              <a:t>3</a:t>
            </a:r>
            <a:r>
              <a:rPr lang="en-US" dirty="0"/>
              <a:t> = 0</a:t>
            </a:r>
          </a:p>
          <a:p>
            <a:r>
              <a:rPr lang="en-US" dirty="0"/>
              <a:t>2</a:t>
            </a:r>
            <a:r>
              <a:rPr lang="en-US" i="1" dirty="0"/>
              <a:t>x</a:t>
            </a:r>
            <a:r>
              <a:rPr lang="en-US" baseline="-25000" dirty="0"/>
              <a:t>1</a:t>
            </a:r>
            <a:r>
              <a:rPr lang="en-US" dirty="0"/>
              <a:t> + </a:t>
            </a:r>
            <a:r>
              <a:rPr lang="en-US" i="1" dirty="0"/>
              <a:t>x</a:t>
            </a:r>
            <a:r>
              <a:rPr lang="en-US" baseline="-25000" dirty="0"/>
              <a:t>2</a:t>
            </a:r>
            <a:r>
              <a:rPr lang="en-US" dirty="0"/>
              <a:t> + 3</a:t>
            </a:r>
            <a:r>
              <a:rPr lang="en-US" i="1" dirty="0"/>
              <a:t>x</a:t>
            </a:r>
            <a:r>
              <a:rPr lang="en-US" baseline="-25000" dirty="0"/>
              <a:t>3</a:t>
            </a:r>
            <a:r>
              <a:rPr lang="en-US" dirty="0"/>
              <a:t> = 0</a:t>
            </a:r>
          </a:p>
          <a:p>
            <a:endParaRPr lang="en-US" b="1" dirty="0">
              <a:solidFill>
                <a:srgbClr val="207BB8"/>
              </a:solidFill>
            </a:endParaRPr>
          </a:p>
          <a:p>
            <a:r>
              <a:rPr lang="en-IN" b="1" dirty="0">
                <a:solidFill>
                  <a:srgbClr val="207BB8"/>
                </a:solidFill>
              </a:rPr>
              <a:t>Solution:</a:t>
            </a:r>
          </a:p>
          <a:p>
            <a:r>
              <a:rPr lang="en-IN" dirty="0"/>
              <a:t>Applying Gauss-Jordan elimination to the augmented matrix</a:t>
            </a:r>
            <a:endParaRPr lang="en-IN" b="1" dirty="0">
              <a:solidFill>
                <a:srgbClr val="207BB8"/>
              </a:solidFill>
            </a:endParaRPr>
          </a:p>
        </p:txBody>
      </p:sp>
      <p:pic>
        <p:nvPicPr>
          <p:cNvPr id="5122" name="Picture 2" descr="Matrix(2, 4, [1, negative 1, 3, 0, 2, 1, 3, 0])"/>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1411288" y="4621266"/>
            <a:ext cx="2643188"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 Placeholder 2"/>
          <p:cNvSpPr>
            <a:spLocks noGrp="1"/>
          </p:cNvSpPr>
          <p:nvPr>
            <p:ph type="body" sz="quarter" idx="13"/>
          </p:nvPr>
        </p:nvSpPr>
        <p:spPr>
          <a:xfrm>
            <a:off x="457200" y="5692903"/>
            <a:ext cx="4742761" cy="707898"/>
          </a:xfrm>
        </p:spPr>
        <p:txBody>
          <a:bodyPr/>
          <a:lstStyle/>
          <a:p>
            <a:r>
              <a:rPr lang="en-IN" dirty="0"/>
              <a:t>yields the matrices shown below.</a:t>
            </a:r>
          </a:p>
        </p:txBody>
      </p:sp>
      <p:pic>
        <p:nvPicPr>
          <p:cNvPr id="4" name="Picture 3">
            <a:extLst>
              <a:ext uri="{FF2B5EF4-FFF2-40B4-BE49-F238E27FC236}">
                <a16:creationId xmlns:a16="http://schemas.microsoft.com/office/drawing/2014/main" id="{B7B39D1C-7497-676E-B504-03735C65B7DD}"/>
              </a:ext>
            </a:extLst>
          </p:cNvPr>
          <p:cNvPicPr>
            <a:picLocks noChangeAspect="1"/>
          </p:cNvPicPr>
          <p:nvPr/>
        </p:nvPicPr>
        <p:blipFill>
          <a:blip r:embed="rId3"/>
          <a:stretch>
            <a:fillRect/>
          </a:stretch>
        </p:blipFill>
        <p:spPr>
          <a:xfrm>
            <a:off x="457200" y="3136901"/>
            <a:ext cx="8229600" cy="3263900"/>
          </a:xfrm>
          <a:prstGeom prst="rect">
            <a:avLst/>
          </a:prstGeom>
        </p:spPr>
      </p:pic>
    </p:spTree>
    <p:extLst>
      <p:ext uri="{BB962C8B-B14F-4D97-AF65-F5344CB8AC3E}">
        <p14:creationId xmlns:p14="http://schemas.microsoft.com/office/powerpoint/2010/main" val="380116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1949" y="180975"/>
            <a:ext cx="8425433" cy="1154049"/>
          </a:xfrm>
        </p:spPr>
        <p:txBody>
          <a:bodyPr>
            <a:normAutofit/>
          </a:bodyPr>
          <a:lstStyle/>
          <a:p>
            <a:r>
              <a:rPr lang="en-IN" dirty="0"/>
              <a:t>Example 9 </a:t>
            </a:r>
            <a:r>
              <a:rPr lang="en-US" dirty="0"/>
              <a:t>– </a:t>
            </a:r>
            <a:r>
              <a:rPr lang="en-IN" dirty="0"/>
              <a:t>Solution (1 of 2)</a:t>
            </a:r>
            <a:r>
              <a:rPr lang="en-US" dirty="0"/>
              <a:t> </a:t>
            </a:r>
            <a:endParaRPr lang="en-IN" dirty="0"/>
          </a:p>
        </p:txBody>
      </p:sp>
      <p:pic>
        <p:nvPicPr>
          <p:cNvPr id="6147" name="Picture 3" descr="Matrices with two rows and four columns. Matrix (2, 4, [1, negative 1, 3, 0, 0, 3, negative 3, 0]). Column 1 is shaded. R_2 + (negative 2) R_1, right arrow, R_2. Matrix (2, 4, [1, negative 1, 3, 0, 0, 1, negative 1, 0]). Column 1 and 1 from row 2 are shaded. (1/3) R_2, right arrow, R_2. Matrix (2, 4, [1, 0, 2, 0, 0, 1, negative 1, 0]). Columns 1 and 2 are shaded. R_1 + R_2, right arrow, R_1."/>
          <p:cNvPicPr>
            <a:picLocks noGrp="1" noChangeAspect="1" noChangeArrowheads="1"/>
          </p:cNvPicPr>
          <p:nvPr>
            <p:ph type="pic" sz="quarter" idx="27"/>
          </p:nvPr>
        </p:nvPicPr>
        <p:blipFill>
          <a:blip r:embed="rId2">
            <a:extLst>
              <a:ext uri="{28A0092B-C50C-407E-A947-70E740481C1C}">
                <a14:useLocalDpi xmlns:a14="http://schemas.microsoft.com/office/drawing/2010/main" val="0"/>
              </a:ext>
            </a:extLst>
          </a:blip>
          <a:stretch>
            <a:fillRect/>
          </a:stretch>
        </p:blipFill>
        <p:spPr bwMode="auto">
          <a:xfrm>
            <a:off x="1106488" y="1444752"/>
            <a:ext cx="5266944" cy="2459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57200" y="4143375"/>
            <a:ext cx="8335962" cy="1895476"/>
          </a:xfrm>
        </p:spPr>
        <p:txBody>
          <a:bodyPr/>
          <a:lstStyle/>
          <a:p>
            <a:r>
              <a:rPr lang="en-IN" dirty="0"/>
              <a:t>The system of equations corresponding to this matrix is</a:t>
            </a:r>
          </a:p>
          <a:p>
            <a:endParaRPr lang="en-IN" sz="800" b="1" dirty="0">
              <a:solidFill>
                <a:srgbClr val="207BB8"/>
              </a:solidFill>
            </a:endParaRPr>
          </a:p>
          <a:p>
            <a:r>
              <a:rPr lang="en-US" i="1" dirty="0"/>
              <a:t>        x</a:t>
            </a:r>
            <a:r>
              <a:rPr lang="en-US" baseline="-25000" dirty="0"/>
              <a:t>1</a:t>
            </a:r>
            <a:r>
              <a:rPr lang="en-US" dirty="0"/>
              <a:t>       + 2</a:t>
            </a:r>
            <a:r>
              <a:rPr lang="en-US" i="1" dirty="0"/>
              <a:t>x</a:t>
            </a:r>
            <a:r>
              <a:rPr lang="en-US" baseline="-25000" dirty="0"/>
              <a:t>3</a:t>
            </a:r>
            <a:r>
              <a:rPr lang="en-US" dirty="0"/>
              <a:t> = 0</a:t>
            </a:r>
          </a:p>
          <a:p>
            <a:r>
              <a:rPr lang="en-US" i="1" dirty="0"/>
              <a:t>              x</a:t>
            </a:r>
            <a:r>
              <a:rPr lang="en-US" baseline="-25000" dirty="0"/>
              <a:t>2</a:t>
            </a:r>
            <a:r>
              <a:rPr lang="en-US" dirty="0"/>
              <a:t> −   </a:t>
            </a:r>
            <a:r>
              <a:rPr lang="en-US" i="1" dirty="0"/>
              <a:t>x</a:t>
            </a:r>
            <a:r>
              <a:rPr lang="en-US" baseline="-25000" dirty="0"/>
              <a:t>3</a:t>
            </a:r>
            <a:r>
              <a:rPr lang="en-US" dirty="0"/>
              <a:t> = 0.</a:t>
            </a:r>
            <a:endParaRPr lang="en-IN" b="1" dirty="0">
              <a:solidFill>
                <a:srgbClr val="207BB8"/>
              </a:solidFill>
            </a:endParaRPr>
          </a:p>
        </p:txBody>
      </p:sp>
    </p:spTree>
    <p:extLst>
      <p:ext uri="{BB962C8B-B14F-4D97-AF65-F5344CB8AC3E}">
        <p14:creationId xmlns:p14="http://schemas.microsoft.com/office/powerpoint/2010/main" val="680596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61949" y="180975"/>
            <a:ext cx="8425433" cy="1154049"/>
          </a:xfrm>
        </p:spPr>
        <p:txBody>
          <a:bodyPr>
            <a:normAutofit/>
          </a:bodyPr>
          <a:lstStyle/>
          <a:p>
            <a:r>
              <a:rPr lang="en-IN" dirty="0"/>
              <a:t>Example 9 </a:t>
            </a:r>
            <a:r>
              <a:rPr lang="en-US" dirty="0"/>
              <a:t>– </a:t>
            </a:r>
            <a:r>
              <a:rPr lang="en-IN" dirty="0"/>
              <a:t>Solution (2 of 2)</a:t>
            </a:r>
            <a:r>
              <a:rPr lang="en-US" dirty="0"/>
              <a:t> </a:t>
            </a:r>
            <a:endParaRPr lang="en-IN" dirty="0"/>
          </a:p>
        </p:txBody>
      </p:sp>
      <p:sp>
        <p:nvSpPr>
          <p:cNvPr id="3" name="Text Placeholder 2"/>
          <p:cNvSpPr>
            <a:spLocks noGrp="1"/>
          </p:cNvSpPr>
          <p:nvPr>
            <p:ph type="body" sz="quarter" idx="13"/>
          </p:nvPr>
        </p:nvSpPr>
        <p:spPr>
          <a:xfrm>
            <a:off x="457200" y="1444752"/>
            <a:ext cx="8335962" cy="1803274"/>
          </a:xfrm>
        </p:spPr>
        <p:txBody>
          <a:bodyPr/>
          <a:lstStyle/>
          <a:p>
            <a:r>
              <a:rPr lang="en-IN" dirty="0"/>
              <a:t>Using the parameter </a:t>
            </a:r>
            <a:r>
              <a:rPr lang="en-IN" i="1" dirty="0"/>
              <a:t>t </a:t>
            </a:r>
            <a:r>
              <a:rPr lang="en-IN" dirty="0"/>
              <a:t>= </a:t>
            </a:r>
            <a:r>
              <a:rPr lang="en-IN" i="1" dirty="0"/>
              <a:t>x</a:t>
            </a:r>
            <a:r>
              <a:rPr lang="en-IN" baseline="-25000" dirty="0"/>
              <a:t>3</a:t>
            </a:r>
            <a:r>
              <a:rPr lang="en-IN" dirty="0"/>
              <a:t>, the solution set is </a:t>
            </a:r>
            <a:r>
              <a:rPr lang="en-IN" i="1" dirty="0"/>
              <a:t>x</a:t>
            </a:r>
            <a:r>
              <a:rPr lang="en-IN" baseline="-25000" dirty="0"/>
              <a:t>1</a:t>
            </a:r>
            <a:r>
              <a:rPr lang="en-IN" dirty="0"/>
              <a:t> = −2</a:t>
            </a:r>
            <a:r>
              <a:rPr lang="en-IN" i="1" dirty="0"/>
              <a:t>t</a:t>
            </a:r>
            <a:r>
              <a:rPr lang="en-IN" dirty="0"/>
              <a:t>,        </a:t>
            </a:r>
            <a:r>
              <a:rPr lang="en-IN" i="1" dirty="0"/>
              <a:t>x</a:t>
            </a:r>
            <a:r>
              <a:rPr lang="en-IN" baseline="-25000" dirty="0"/>
              <a:t>2</a:t>
            </a:r>
            <a:r>
              <a:rPr lang="en-IN" dirty="0"/>
              <a:t> = </a:t>
            </a:r>
            <a:r>
              <a:rPr lang="en-IN" i="1" dirty="0"/>
              <a:t>t</a:t>
            </a:r>
            <a:r>
              <a:rPr lang="en-IN" dirty="0"/>
              <a:t>, and </a:t>
            </a:r>
            <a:r>
              <a:rPr lang="en-IN" i="1" dirty="0"/>
              <a:t>x</a:t>
            </a:r>
            <a:r>
              <a:rPr lang="en-IN" baseline="-25000" dirty="0"/>
              <a:t>3</a:t>
            </a:r>
            <a:r>
              <a:rPr lang="en-IN" dirty="0"/>
              <a:t> = </a:t>
            </a:r>
            <a:r>
              <a:rPr lang="en-IN" i="1" dirty="0"/>
              <a:t>t</a:t>
            </a:r>
            <a:r>
              <a:rPr lang="en-IN" dirty="0"/>
              <a:t>, where </a:t>
            </a:r>
            <a:r>
              <a:rPr lang="en-IN" i="1" dirty="0"/>
              <a:t>t </a:t>
            </a:r>
            <a:r>
              <a:rPr lang="en-IN" dirty="0"/>
              <a:t>is any real number. This system has infinitely many solutions, one of which is the </a:t>
            </a:r>
            <a:r>
              <a:rPr lang="en-US" dirty="0"/>
              <a:t>trivial solution (</a:t>
            </a:r>
            <a:r>
              <a:rPr lang="en-US" i="1" dirty="0"/>
              <a:t>t </a:t>
            </a:r>
            <a:r>
              <a:rPr lang="en-US" dirty="0"/>
              <a:t>= 0).</a:t>
            </a:r>
            <a:endParaRPr lang="en-IN" dirty="0"/>
          </a:p>
        </p:txBody>
      </p:sp>
    </p:spTree>
    <p:extLst>
      <p:ext uri="{BB962C8B-B14F-4D97-AF65-F5344CB8AC3E}">
        <p14:creationId xmlns:p14="http://schemas.microsoft.com/office/powerpoint/2010/main" val="4253893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6615" y="192024"/>
            <a:ext cx="8430768" cy="1143000"/>
          </a:xfrm>
        </p:spPr>
        <p:txBody>
          <a:bodyPr>
            <a:normAutofit/>
          </a:bodyPr>
          <a:lstStyle/>
          <a:p>
            <a:r>
              <a:rPr lang="en-IN" sz="2600" dirty="0"/>
              <a:t>Homogeneous Systems of Linear Equations </a:t>
            </a:r>
            <a:r>
              <a:rPr lang="en-US" sz="2600" dirty="0"/>
              <a:t>(2 of 2)</a:t>
            </a:r>
            <a:endParaRPr lang="en-IN" sz="2600" dirty="0"/>
          </a:p>
        </p:txBody>
      </p:sp>
      <p:sp>
        <p:nvSpPr>
          <p:cNvPr id="8" name="Text Placeholder 2"/>
          <p:cNvSpPr>
            <a:spLocks noGrp="1"/>
          </p:cNvSpPr>
          <p:nvPr>
            <p:ph type="body" sz="quarter" idx="13"/>
          </p:nvPr>
        </p:nvSpPr>
        <p:spPr>
          <a:xfrm>
            <a:off x="457200" y="1444753"/>
            <a:ext cx="7941050" cy="2521320"/>
          </a:xfrm>
          <a:ln w="28575">
            <a:solidFill>
              <a:srgbClr val="7F4520"/>
            </a:solidFill>
          </a:ln>
        </p:spPr>
        <p:txBody>
          <a:bodyPr/>
          <a:lstStyle/>
          <a:p>
            <a:r>
              <a:rPr lang="en-IN" b="1" dirty="0">
                <a:solidFill>
                  <a:srgbClr val="7F4520"/>
                </a:solidFill>
              </a:rPr>
              <a:t>Theorem 1.1 The Number of Solutions of a        Homogeneous System</a:t>
            </a:r>
            <a:endParaRPr lang="en-IN" sz="200" dirty="0"/>
          </a:p>
          <a:p>
            <a:r>
              <a:rPr lang="en-IN" dirty="0"/>
              <a:t>Every homogeneous system of linear equations is consistent. Moreover, if the system has fewer equations than variables, then it must have infinitely many </a:t>
            </a:r>
            <a:r>
              <a:rPr lang="en-US" dirty="0"/>
              <a:t>solutions.</a:t>
            </a:r>
            <a:endParaRPr lang="en-IN" dirty="0"/>
          </a:p>
        </p:txBody>
      </p:sp>
    </p:spTree>
    <p:extLst>
      <p:ext uri="{BB962C8B-B14F-4D97-AF65-F5344CB8AC3E}">
        <p14:creationId xmlns:p14="http://schemas.microsoft.com/office/powerpoint/2010/main" val="29412754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1178</TotalTime>
  <Words>1501</Words>
  <Application>Microsoft Macintosh PowerPoint</Application>
  <PresentationFormat>On-screen Show (4:3)</PresentationFormat>
  <Paragraphs>141</Paragraphs>
  <Slides>31</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Wingdings</vt:lpstr>
      <vt:lpstr>Office Theme</vt:lpstr>
      <vt:lpstr> 1</vt:lpstr>
      <vt:lpstr>1.2</vt:lpstr>
      <vt:lpstr>Objectives</vt:lpstr>
      <vt:lpstr>Matrices</vt:lpstr>
      <vt:lpstr>Matrices (1 of 3)</vt:lpstr>
      <vt:lpstr>Matrices (2 of 3)</vt:lpstr>
      <vt:lpstr>Example 1 – Sizes of Matrices</vt:lpstr>
      <vt:lpstr>Matrices (3 of 3)</vt:lpstr>
      <vt:lpstr>Elementary Row Operations</vt:lpstr>
      <vt:lpstr>Elementary Row Operations (1 of 4)</vt:lpstr>
      <vt:lpstr>Example 3 – Using Elementary Row Operations to Solve a System (1 of 3)</vt:lpstr>
      <vt:lpstr>Example 3 – Using Elementary Row Operations to Solve a System (2 of 3)</vt:lpstr>
      <vt:lpstr>Example 3 – Using Elementary Row Operations to Solve a System (3 of 3)</vt:lpstr>
      <vt:lpstr>Elementary Row Operations (2 of 4)</vt:lpstr>
      <vt:lpstr>Elementary Row Operations (3 of 4)</vt:lpstr>
      <vt:lpstr>Elementary Row Operations (4 of 4)</vt:lpstr>
      <vt:lpstr>Example 5 – Gaussian Elimination with Back-Substitution</vt:lpstr>
      <vt:lpstr>Example 5 – Solution (1 of 3) </vt:lpstr>
      <vt:lpstr>Example 5 – Solution (2 of 3) </vt:lpstr>
      <vt:lpstr>Example 5 – Solution (3 of 3) </vt:lpstr>
      <vt:lpstr>Gauss-Jordan Elimination</vt:lpstr>
      <vt:lpstr>Gauss-Jordan Elimination (1 of 1)</vt:lpstr>
      <vt:lpstr>Example 7 – Gauss-Jordan Elimination</vt:lpstr>
      <vt:lpstr>Example 7 – Solution (1 of 2) </vt:lpstr>
      <vt:lpstr>Example 7 – Solution (2 of 2) </vt:lpstr>
      <vt:lpstr>Homogeneous Systems of Linear Equations</vt:lpstr>
      <vt:lpstr>Homogeneous Systems of Linear Equations (1 of 2)</vt:lpstr>
      <vt:lpstr>Example 9 – Solving a Homogeneous System of Linear Equations</vt:lpstr>
      <vt:lpstr>Example 9 – Solution (1 of 2) </vt:lpstr>
      <vt:lpstr>Example 9 – Solution (2 of 2) </vt:lpstr>
      <vt:lpstr>Homogeneous Systems of Linear Equations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Anil Varekar</dc:creator>
  <cp:lastModifiedBy>Min Wang</cp:lastModifiedBy>
  <cp:revision>434</cp:revision>
  <dcterms:created xsi:type="dcterms:W3CDTF">2019-02-05T06:40:56Z</dcterms:created>
  <dcterms:modified xsi:type="dcterms:W3CDTF">2026-02-22T12:55:54Z</dcterms:modified>
</cp:coreProperties>
</file>