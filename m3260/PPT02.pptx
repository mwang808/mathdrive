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55" r:id="rId51"/>
    <p:sldId id="356" r:id="rId52"/>
    <p:sldId id="357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6F27E-91C9-F94C-9836-B5868758042B}" v="18" dt="2020-08-17T18:36:20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6"/>
  </p:normalViewPr>
  <p:slideViewPr>
    <p:cSldViewPr snapToGrid="0" snapToObjects="1">
      <p:cViewPr varScale="1">
        <p:scale>
          <a:sx n="89" d="100"/>
          <a:sy n="89" d="100"/>
        </p:scale>
        <p:origin x="536" y="1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Wang" userId="40c509f2-6e44-41ac-be95-0b697891d3eb" providerId="ADAL" clId="{DEE6F27E-91C9-F94C-9836-B5868758042B}"/>
    <pc:docChg chg="modSld modMainMaster">
      <pc:chgData name="Min Wang" userId="40c509f2-6e44-41ac-be95-0b697891d3eb" providerId="ADAL" clId="{DEE6F27E-91C9-F94C-9836-B5868758042B}" dt="2020-08-17T18:36:20.445" v="19"/>
      <pc:docMkLst>
        <pc:docMk/>
      </pc:docMkLst>
      <pc:sldChg chg="addSp delSp modSp mod setBg">
        <pc:chgData name="Min Wang" userId="40c509f2-6e44-41ac-be95-0b697891d3eb" providerId="ADAL" clId="{DEE6F27E-91C9-F94C-9836-B5868758042B}" dt="2020-08-17T18:36:20.445" v="19"/>
        <pc:sldMkLst>
          <pc:docMk/>
          <pc:sldMk cId="2372353324" sldId="256"/>
        </pc:sldMkLst>
        <pc:spChg chg="add del mod">
          <ac:chgData name="Min Wang" userId="40c509f2-6e44-41ac-be95-0b697891d3eb" providerId="ADAL" clId="{DEE6F27E-91C9-F94C-9836-B5868758042B}" dt="2020-08-17T18:36:13.570" v="2"/>
          <ac:spMkLst>
            <pc:docMk/>
            <pc:sldMk cId="2372353324" sldId="256"/>
            <ac:spMk id="4" creationId="{2C80578B-BD01-B147-8A8D-23C660A59BEB}"/>
          </ac:spMkLst>
        </pc:spChg>
      </pc:sldChg>
      <pc:sldMasterChg chg="setBg modSldLayout">
        <pc:chgData name="Min Wang" userId="40c509f2-6e44-41ac-be95-0b697891d3eb" providerId="ADAL" clId="{DEE6F27E-91C9-F94C-9836-B5868758042B}" dt="2020-08-17T18:36:20.445" v="19"/>
        <pc:sldMasterMkLst>
          <pc:docMk/>
          <pc:sldMasterMk cId="0" sldId="2147483660"/>
        </pc:sldMasterMkLst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1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2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3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4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5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6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7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8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69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70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71"/>
          </pc:sldLayoutMkLst>
        </pc:sldLayoutChg>
        <pc:sldLayoutChg chg="setBg">
          <pc:chgData name="Min Wang" userId="40c509f2-6e44-41ac-be95-0b697891d3eb" providerId="ADAL" clId="{DEE6F27E-91C9-F94C-9836-B5868758042B}" dt="2020-08-17T18:36:20.445" v="19"/>
          <pc:sldLayoutMkLst>
            <pc:docMk/>
            <pc:sldMasterMk cId="0" sldId="2147483660"/>
            <pc:sldLayoutMk cId="0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0"/>
            <a:duotone>
              <a:schemeClr val="bg2">
                <a:shade val="40000"/>
                <a:satMod val="400000"/>
              </a:schemeClr>
              <a:schemeClr val="bg2">
                <a:tint val="10000"/>
                <a:satMod val="20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8/17/20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53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50FF-1905-604E-A981-2A259E86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788C1-4159-4148-BB79-5FA7D32EC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matrix can be denoted by an uppercase letter:</a:t>
            </a:r>
          </a:p>
          <a:p>
            <a:endParaRPr lang="en-US" dirty="0"/>
          </a:p>
          <a:p>
            <a:r>
              <a:rPr lang="en-US" dirty="0"/>
              <a:t>A matrix can be denoted by a representative element enclosed in brackets:</a:t>
            </a:r>
          </a:p>
          <a:p>
            <a:endParaRPr lang="en-US" dirty="0"/>
          </a:p>
          <a:p>
            <a:r>
              <a:rPr lang="en-US" dirty="0"/>
              <a:t>A matrix can be denoted by </a:t>
            </a:r>
          </a:p>
          <a:p>
            <a:pPr marL="336550" lvl="1" indent="0">
              <a:buNone/>
            </a:pPr>
            <a:r>
              <a:rPr lang="en-US" dirty="0"/>
              <a:t>a rectangular array of numbers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6C589-BDA6-5F42-A605-917BF11D3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35" y="2119991"/>
            <a:ext cx="2548164" cy="659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BBBABB-6217-0246-9DB0-A819577CA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2" y="3751853"/>
            <a:ext cx="3300568" cy="776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AEAC9F-3721-264D-9C61-097B260D3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180" y="4474753"/>
            <a:ext cx="32258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5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4E0B-2BC5-2D4D-A567-C011A87C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3FCF-594C-A543-A6C9-14AC84D23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B2008-EFB0-1B4F-B0E4-31613464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63" y="1600201"/>
            <a:ext cx="87249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0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6D21-86AA-5046-896D-3B685B2A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12FED9-2470-E24B-BC12-528AE2E62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822" y="2590800"/>
            <a:ext cx="1257300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FCEB10-39ED-9640-9F10-B8CA6DF44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822" y="1600201"/>
            <a:ext cx="16383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41B23E-9C33-D941-9186-4FEF43E1A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22" y="3581399"/>
            <a:ext cx="1790700" cy="58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88C0E-829B-354B-A9E4-9E36F08EB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822" y="4470399"/>
            <a:ext cx="1778000" cy="787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00A7F6-DF8C-B146-9D54-576BA351086C}"/>
              </a:ext>
            </a:extLst>
          </p:cNvPr>
          <p:cNvSpPr/>
          <p:nvPr/>
        </p:nvSpPr>
        <p:spPr>
          <a:xfrm>
            <a:off x="3896180" y="200306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Helvetica" pitchFamily="2" charset="0"/>
              </a:rPr>
              <a:t>A matrix that has only one column, such as matrix B, is called a column matrix or column vector. Similarly, a matrix that has only one row, such as matrix C, is called a row matrix or row vector.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A0EA90-6E0E-614A-BD57-65EB4EAD3FD3}"/>
              </a:ext>
            </a:extLst>
          </p:cNvPr>
          <p:cNvSpPr/>
          <p:nvPr/>
        </p:nvSpPr>
        <p:spPr>
          <a:xfrm>
            <a:off x="3896180" y="403891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Helvetica" pitchFamily="2" charset="0"/>
              </a:rPr>
              <a:t>Boldface lowercase letters are often used</a:t>
            </a:r>
          </a:p>
          <a:p>
            <a:r>
              <a:rPr lang="en-US" dirty="0">
                <a:latin typeface="Helvetica" pitchFamily="2" charset="0"/>
              </a:rPr>
              <a:t>to designate column matrices and row matrices (vectors).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94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B735-A1E6-CB40-8AF4-5D0CE963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Addition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3BDFAD-A239-6D41-8592-CF4BAF8F7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1621277"/>
            <a:ext cx="8042275" cy="1427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F20604-87DD-2642-8DC6-80CE1E720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41008"/>
            <a:ext cx="2692400" cy="73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99A350-71A3-F342-89F3-7639A036B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402" y="3441008"/>
            <a:ext cx="3860800" cy="71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909B61-5BD4-6242-B7DD-C5CEAAC2E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69923"/>
            <a:ext cx="1955800" cy="1041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830B46-BD4A-BF4A-B7F5-B3EC5FAF28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4506473"/>
            <a:ext cx="60198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3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6BC8-8359-A241-AFA4-4289B7F2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Multiplication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BE476F-1615-1243-B120-F27A1E646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1596410"/>
            <a:ext cx="8042275" cy="10707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9A2AA4-B55A-6640-A828-A6D3A6090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2" y="3009740"/>
            <a:ext cx="90043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3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6A18-35F1-D248-8120-26613A8FB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9E24AE-5911-5842-9099-78635BEFC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876" y="1677308"/>
            <a:ext cx="64897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1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2D89-4517-FC4F-8386-8DDDADE5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F35B4E-CE1D-8D44-ABE3-A55DB09CA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1746285"/>
            <a:ext cx="8042275" cy="1990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ED1974-4C9F-1D4E-81B1-19B785A80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86" y="4038239"/>
            <a:ext cx="53848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96D5E-EB27-1D48-BB88-76EE4002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8153-F87F-B04E-8396-9D84756D9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663E5-B692-3141-B1CF-650F56111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1600201"/>
            <a:ext cx="44958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94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7E7C-1CE2-8E43-B49F-26517B17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4789FE-E474-9949-B3A3-CC58D8843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813" y="1701800"/>
            <a:ext cx="3784600" cy="109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175E52-DE2C-224A-89B2-B924E80DD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841171"/>
            <a:ext cx="2628900" cy="673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0E6A2A-BB99-7A4D-B022-9506E8FCB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3" y="3561442"/>
            <a:ext cx="2590800" cy="67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6703AB-BC21-BC48-886C-375C80292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63" y="4283527"/>
            <a:ext cx="2540000" cy="1054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C3B425-AED6-A149-9510-62A57A097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0413" y="4164691"/>
            <a:ext cx="254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4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7ECA-4844-B24C-84A0-5643E6D7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Representing a system of linear equations by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247A32-D593-184C-B341-3A0E282D1DBE}"/>
              </a:ext>
            </a:extLst>
          </p:cNvPr>
          <p:cNvSpPr/>
          <p:nvPr/>
        </p:nvSpPr>
        <p:spPr>
          <a:xfrm>
            <a:off x="888336" y="1938049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pitchFamily="2" charset="0"/>
              </a:rPr>
              <a:t>The system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094B6-F46E-F64E-BC3B-17B1620A7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786" y="2233723"/>
            <a:ext cx="2870200" cy="990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4F636F-9697-2544-9DA6-15EBE612D6AA}"/>
              </a:ext>
            </a:extLst>
          </p:cNvPr>
          <p:cNvSpPr/>
          <p:nvPr/>
        </p:nvSpPr>
        <p:spPr>
          <a:xfrm>
            <a:off x="888336" y="3339069"/>
            <a:ext cx="3954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pitchFamily="2" charset="0"/>
              </a:rPr>
              <a:t>can be written as the matrix equation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44963-58BC-0D4E-AA0E-509A6AC89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265" y="3339069"/>
            <a:ext cx="914400" cy="279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F613E1-D651-1E4B-B7E8-461B9F08B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365" y="3844223"/>
            <a:ext cx="3289300" cy="1511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081792-C143-5B46-BA77-0675D369367B}"/>
              </a:ext>
            </a:extLst>
          </p:cNvPr>
          <p:cNvSpPr/>
          <p:nvPr/>
        </p:nvSpPr>
        <p:spPr>
          <a:xfrm>
            <a:off x="888335" y="5319238"/>
            <a:ext cx="59478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</a:rPr>
              <a:t>    is the coefficient matrix of the system,      and      are column matrices.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B551A7-A2B1-0942-B78B-5BD9802CA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99" y="5355523"/>
            <a:ext cx="254000" cy="2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1C8DD8-CAEC-4147-BF3D-BB587306C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786" y="5351645"/>
            <a:ext cx="2032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6544BD-5048-0B43-A4C0-F6E7AE36D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354" y="5290993"/>
            <a:ext cx="2413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0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630F-085E-2D4E-9F39-D7469793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DCB19-179F-C24F-8E85-35ED2C38D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3BD7A-DDD0-1F48-A29A-4A0718A0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42" y="1600201"/>
            <a:ext cx="66294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5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4FA3-35A4-B945-B166-CB9F2F915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Matrices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6BAF29-4A94-AF4D-9B61-4CD26A1F9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6" y="1486587"/>
            <a:ext cx="8042275" cy="1942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088DEE-CA69-CB40-A712-BFE9EA66C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71" y="3489198"/>
            <a:ext cx="965200" cy="41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219A89-6A57-7D40-8FB8-3C8E9C1B5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71" y="4171042"/>
            <a:ext cx="3543300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147D6-33F1-C04C-8D34-26153A419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921" y="4158342"/>
            <a:ext cx="3949700" cy="1460500"/>
          </a:xfrm>
          <a:prstGeom prst="rect">
            <a:avLst/>
          </a:prstGeom>
        </p:spPr>
      </p:pic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A52F10B0-EC52-4643-966F-EF7D759B38F1}"/>
              </a:ext>
            </a:extLst>
          </p:cNvPr>
          <p:cNvSpPr/>
          <p:nvPr/>
        </p:nvSpPr>
        <p:spPr>
          <a:xfrm>
            <a:off x="4501245" y="4760068"/>
            <a:ext cx="377371" cy="26974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-Down Arrow 8">
            <a:extLst>
              <a:ext uri="{FF2B5EF4-FFF2-40B4-BE49-F238E27FC236}">
                <a16:creationId xmlns:a16="http://schemas.microsoft.com/office/drawing/2014/main" id="{DEC00361-94E0-0B44-BF31-C02252D8A734}"/>
              </a:ext>
            </a:extLst>
          </p:cNvPr>
          <p:cNvSpPr/>
          <p:nvPr/>
        </p:nvSpPr>
        <p:spPr>
          <a:xfrm>
            <a:off x="1320799" y="3989759"/>
            <a:ext cx="145143" cy="209550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0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F7B5-84AD-604E-9F21-82D89A40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8E3ED-8568-6447-AED1-E236F0986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C6C01-AFD1-8445-82CB-3415B43E7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22" y="1600201"/>
            <a:ext cx="46355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D9585F-49AB-8643-9A6B-AE22CEFCA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22" y="3771901"/>
            <a:ext cx="56388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15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7D00-87D3-C94E-87D4-2D9611F1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07FA75-D9E6-0145-8F9C-D6DE981EA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6" y="2323702"/>
            <a:ext cx="8042275" cy="19384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F06110-D4C7-8540-B13F-39987562A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1847433"/>
            <a:ext cx="1600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51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C6B015-08AC-7241-B453-5CE634B8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013" y="4436382"/>
            <a:ext cx="1676400" cy="30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AF4EE9-BC7F-8046-ACCF-8363E4D4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Properties of 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EF811-2843-3448-887B-1D17E29EC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CBFE4-9E98-7A4C-A0A8-7E882368A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13" y="1600201"/>
            <a:ext cx="8813800" cy="255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AA521C-6576-C74D-9428-E2E1859B2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13" y="4959350"/>
            <a:ext cx="7874000" cy="140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17C810-EA30-1648-8716-C26621759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044" y="4410982"/>
            <a:ext cx="3619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1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8083-2F7F-E44C-864F-101902A5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BDE05-20EF-5A48-A0BC-0CD4F41D9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011EA-9AFE-F741-8678-B5B330D3D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21" y="1600201"/>
            <a:ext cx="53467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45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1E12-533D-5749-B57A-DD597097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90558-F817-1E4B-8AD2-E40EDBC6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5EB03-AEE5-8E41-BFB1-EB915221C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13" y="1600201"/>
            <a:ext cx="88138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13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4B3A-0DEC-9C47-AA27-D2F16CB9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Matrix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6AF7A3-5224-B640-AB56-44428BF36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671" y="3779157"/>
            <a:ext cx="6883400" cy="111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B03B03-5296-B34C-95C5-32D511BF5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929" y="1600201"/>
            <a:ext cx="34290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86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C0D5-6F1C-594C-8972-0E79705D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22531-4F83-F24C-9E2A-D6EB293B0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D4E23-E041-3745-98F7-17C2D9A37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264" y="1600201"/>
            <a:ext cx="26797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67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2A6B-3848-1145-B015-654F5CDE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CF9D-4B2E-D043-81E0-F96DD76F3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DE6F9-2318-2C49-8E16-3C36A985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3" y="1444532"/>
            <a:ext cx="88646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27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AE02-DD72-EB48-8FF8-1748B7DB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C13D9-9C26-DE4F-AF2D-73DB2CE94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5DC21-3050-984D-8E35-06881B01E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21" y="1600201"/>
            <a:ext cx="3949700" cy="87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8B2995-1994-6D44-9827-B9D093AE0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3041650"/>
            <a:ext cx="79375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7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F32DD-B101-2F42-9D27-A70153F3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Transpose of a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26E2B-7759-704A-BB4E-2B8384573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transpose of a matrix is formed by writing its columns as rows.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352F1-DB83-6E40-BFBE-37A7EEFD4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79" y="2400300"/>
            <a:ext cx="4076700" cy="2057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C64A31-C62B-554F-AB53-E8681726E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579" y="4403271"/>
            <a:ext cx="40132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78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10A5-4A3D-8E47-848D-8A493E91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F1C023-2419-2C40-9115-F83EA24B4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6" y="1444532"/>
            <a:ext cx="8042275" cy="138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02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7314-C5C8-8C4F-A256-8BF1F4DB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008F8E-15FA-414B-A246-B4E93C5A9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3729265"/>
            <a:ext cx="3644900" cy="317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3D562D-73E0-D84C-BC18-7FFEA34A2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3" y="1460500"/>
            <a:ext cx="87884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8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A297-A4DE-FC4A-BC1B-527B6E43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F77E-3B05-074F-A10C-92AAA9BA5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25B93-3987-9A43-A335-5986AFF4C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21" y="1600201"/>
            <a:ext cx="59309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35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B9E7-E3EF-5746-9ADD-5B4FCCD2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CF05-C83F-8B4F-A89B-342C767BF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D819C-A0D6-4242-B30D-AD9E3DB5F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79" y="1600201"/>
            <a:ext cx="5245100" cy="18796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46F903F-DD09-A849-B749-4EE7B1F9A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3" y="5073133"/>
            <a:ext cx="977900" cy="330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9F8693-055C-584B-85D1-06C6E1966C44}"/>
              </a:ext>
            </a:extLst>
          </p:cNvPr>
          <p:cNvSpPr/>
          <p:nvPr/>
        </p:nvSpPr>
        <p:spPr>
          <a:xfrm>
            <a:off x="667657" y="5073133"/>
            <a:ext cx="65459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</a:rPr>
              <a:t>For any matrix A, the matrix given by                   is symmetric.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14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3C67-5F85-614B-9DB6-0FAC01EC5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Inverse of a Matrix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0251F8-FB51-9B43-B900-155155DAF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6" y="1612582"/>
            <a:ext cx="8042275" cy="14738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05726D-1C60-F840-B3DB-8FCC6908A476}"/>
              </a:ext>
            </a:extLst>
          </p:cNvPr>
          <p:cNvSpPr/>
          <p:nvPr/>
        </p:nvSpPr>
        <p:spPr>
          <a:xfrm>
            <a:off x="549275" y="3429000"/>
            <a:ext cx="4506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Helvetica" pitchFamily="2" charset="0"/>
              </a:rPr>
              <a:t>Nonsquare</a:t>
            </a:r>
            <a:r>
              <a:rPr lang="en-US" dirty="0">
                <a:latin typeface="Helvetica" pitchFamily="2" charset="0"/>
              </a:rPr>
              <a:t> matrices do not have inverses.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E9592D-011C-4D46-A78D-02A6460B8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13" y="4159057"/>
            <a:ext cx="88392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75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82A7-0761-7D4F-A1AB-2253E445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EF039-FED1-A94F-A393-2D105DFE2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779" y="3096986"/>
            <a:ext cx="1206500" cy="152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DC12D4-549B-B94A-91FE-441AD606F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79" y="1632858"/>
            <a:ext cx="5372100" cy="1092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38E579-6A04-6A47-957B-3B09FC51E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279" y="3109686"/>
            <a:ext cx="56896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8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9EAE-7A93-7447-8764-AC31B987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Finding the Inverse of a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1283D-F842-B548-B291-58138E81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62AD2-D3EE-F74E-BBAB-D48F28F9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3" y="1600201"/>
            <a:ext cx="87884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77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6D15-49EE-EB42-8610-9AB13E773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5C13-50CC-AB48-97FC-B0D1011CF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2E258-6E73-4E42-B651-D4EAFB68A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32385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82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5F89F-6669-3446-8DF9-41EAD846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8B4DD-BAD5-0949-9464-DED7F4AF8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1ACF4-35ED-CC4D-B72E-B4924288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31623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19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3978-94E9-9043-88CA-AFFD7065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E648F-CE9B-9C45-9A04-602CDB74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EAFDA-28F4-7349-858C-9AB49B561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13" y="1600201"/>
            <a:ext cx="39878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40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CDEC-5555-F54C-972A-68D64F67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for 2 x 2 matrix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BFB4DD-0D85-D048-A6D8-804DE37B7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1444532"/>
            <a:ext cx="8042275" cy="232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690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5B667-5833-C648-8F43-E97CB241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1E234-C805-FE4D-989E-79FFD710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DEB10-CFB0-2146-85A4-5D34653A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93" y="1600201"/>
            <a:ext cx="49403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618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DCEF-9930-3647-9D19-EC19401A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8A95-20D7-E243-AB45-F154F6D40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9D137-265A-5E42-95D6-A87C1E36C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63" y="627744"/>
            <a:ext cx="8775700" cy="298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6C6DDA-E950-D443-A3DC-C8FE6BF03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3" y="3612244"/>
            <a:ext cx="89916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18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427DB-94C5-ED4C-8F85-38817665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7B7F26-21FD-DA4C-A79F-E53F16537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6812" y="2597526"/>
            <a:ext cx="711200" cy="495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313018-B236-4D48-BDCC-EF50768D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13" y="1016001"/>
            <a:ext cx="7239000" cy="116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1CC2D1-5F63-A042-BC27-B43F2817B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812" y="3553122"/>
            <a:ext cx="711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630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B9AB-04E2-B14C-A2A4-671AB583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27FD1-C704-EE4F-A34C-EC869B6D0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363" y="2384332"/>
            <a:ext cx="6108700" cy="1600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844E33-A745-F04F-8AFA-ED6EF198A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63" y="1444532"/>
            <a:ext cx="6896100" cy="939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DBBC20-A435-7C47-A6CB-B7F52EBF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363" y="3800568"/>
            <a:ext cx="71628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63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76B6-0457-CA49-93C3-036FB032F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D2260-C449-E640-B056-0B4C7A87C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898D8-3DE7-FF43-B68A-A6D60FFD3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79" y="1600201"/>
            <a:ext cx="62865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203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C355-F06E-FE49-B013-F1B5AD2A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02B8-4853-E840-8248-A1F8D231F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3F336-ABD7-5049-B375-4C504AD1A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76401"/>
            <a:ext cx="88011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A0CF37-671C-904F-8E34-948E1C0F2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13" y="2811785"/>
            <a:ext cx="88392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4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BF30-30BA-D844-8C2A-7ED090CF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Matrices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89DAF2-CFB2-E048-A657-DF27B1514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1571581"/>
            <a:ext cx="8042275" cy="5978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75638A-B3C0-C142-AE74-53524CC69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4" y="2559050"/>
            <a:ext cx="8193075" cy="2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3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F6E0-0422-9849-8893-13EBC8D5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Matrices and Elementary Row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E2B4F-382E-FB4F-8F8D-9BF1FDCDB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F12B92-E180-F341-AB55-9DF039D6B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82" y="1690914"/>
            <a:ext cx="4686625" cy="1738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8A7CDE-7BC9-9741-B6D0-6E0499DA4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21" y="3584669"/>
            <a:ext cx="5208655" cy="146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9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04EB-7D32-3D4C-A682-8FC489CE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7963D8-E95A-9347-A8FB-AE28394BB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185" y="3650343"/>
            <a:ext cx="8080831" cy="9506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D0A078-E616-BE49-8C5F-17166CF0A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86" y="1741715"/>
            <a:ext cx="4742757" cy="146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6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8C64-AB69-FC43-9E15-208E6BF3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D866-283F-3042-8401-EC05A9AD8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85F7A-49D6-DB43-B2AD-0FD1BDF85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1"/>
            <a:ext cx="7634174" cy="15321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5E6C5B-14CA-084A-B38E-C2FDAEA2BE45}"/>
              </a:ext>
            </a:extLst>
          </p:cNvPr>
          <p:cNvSpPr/>
          <p:nvPr/>
        </p:nvSpPr>
        <p:spPr>
          <a:xfrm>
            <a:off x="660399" y="3660820"/>
            <a:ext cx="79311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</a:rPr>
              <a:t>The procedure demonstrated above is primarily of theoretical interest.</a:t>
            </a:r>
          </a:p>
          <a:p>
            <a:r>
              <a:rPr lang="en-US" dirty="0">
                <a:latin typeface="Helvetica" pitchFamily="2" charset="0"/>
              </a:rPr>
              <a:t>In other words, this procedure is not suggested as a practical method for performing Gaussian elimination.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301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EA43-EB6C-C446-A921-5A844E0C7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D52A3-FDF2-434C-AF96-6FD588C0A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EF2272-6C7B-A441-80DE-817E64911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1"/>
            <a:ext cx="8024601" cy="1099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C188F5-AC20-0D44-9070-3C9517D22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23" y="2919357"/>
            <a:ext cx="7983554" cy="789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EDC3EB-5E47-814B-A75C-0F7CE0B7A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21" y="3938643"/>
            <a:ext cx="8071863" cy="78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7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7122-BCF0-8249-89CC-3CFA5B72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Writing a Matrix as the Product of Elementary Matrices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27930A-1ABF-A84A-90FF-A7787183E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833" y="3231472"/>
            <a:ext cx="1906945" cy="367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61B113-8589-484B-A287-D8E3636BE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714" y="3185659"/>
            <a:ext cx="537029" cy="4866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04F711-FCA3-B14A-9793-CE1BF40C0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743" y="3245303"/>
            <a:ext cx="1653269" cy="367393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46F0635A-00EE-9D4C-886E-0D02A5D71F35}"/>
              </a:ext>
            </a:extLst>
          </p:cNvPr>
          <p:cNvSpPr/>
          <p:nvPr/>
        </p:nvSpPr>
        <p:spPr>
          <a:xfrm>
            <a:off x="3179892" y="3300868"/>
            <a:ext cx="333829" cy="2286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688EBB-D4B8-5F47-BF56-4A148C36E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57" y="1507804"/>
            <a:ext cx="6542166" cy="133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1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4F4D-18CF-8042-AE77-042E1FD5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48E8-B27D-934D-BC0B-9BFECC60A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68003-1F46-7C40-8EB0-89CF1E326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4" y="1600200"/>
            <a:ext cx="7985019" cy="226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715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A990-9A93-D743-95DD-B3413BD0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LU-Factorization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521606-C959-6344-920E-EFE1CCC54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652" y="1444532"/>
            <a:ext cx="8412696" cy="1763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A95E95-F6B5-AD44-A517-9B4A63DD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35" y="3428999"/>
            <a:ext cx="6979389" cy="159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0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A495-08C9-9148-BB22-BA8B40E4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C634C3-DE5C-7B46-93B5-1128365AC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818" y="1580243"/>
            <a:ext cx="8192823" cy="69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F5955D-CC80-3A4A-9471-66BA5AB06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35" y="2447111"/>
            <a:ext cx="817333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8D0B49-8A33-244A-AA77-FFA6B59AE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78" y="3429000"/>
            <a:ext cx="8708243" cy="178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6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0F4D-7BEC-DB48-9183-B1FF12DC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B0F1-454B-484D-AAF0-945B1CC4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C3B2E-EFE4-C444-8ACD-FDA0F85D4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600200"/>
            <a:ext cx="8124658" cy="1534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98392D-DBB0-1A4F-84EE-B2CF9A0E2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85" y="3771900"/>
            <a:ext cx="1948543" cy="1353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152CE6-22DD-2446-B2D6-A96B45A56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628" y="3793673"/>
            <a:ext cx="1869490" cy="135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9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677D-6C1A-424D-9F35-B40B92E5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7A46E2-50F5-6744-8B07-05C5130D2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75" y="4711699"/>
            <a:ext cx="4648200" cy="1092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3EC8AF-254E-7945-A511-7B46916BC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25" y="1600201"/>
            <a:ext cx="8239026" cy="1143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47134D-6D78-984D-8244-44A49D5B1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75" y="2820761"/>
            <a:ext cx="4208072" cy="190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4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B544C-677A-764C-9079-C812F02B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73BA1-040B-1940-A96F-3726AAC2D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4E2D7-AAD8-3C47-B465-9CC30BD75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27" y="1602921"/>
            <a:ext cx="3623173" cy="18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914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514</TotalTime>
  <Words>246</Words>
  <Application>Microsoft Macintosh PowerPoint</Application>
  <PresentationFormat>On-screen Show (4:3)</PresentationFormat>
  <Paragraphs>38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Helvetica</vt:lpstr>
      <vt:lpstr>News Gothic MT</vt:lpstr>
      <vt:lpstr>Wingdings 2</vt:lpstr>
      <vt:lpstr>Breeze</vt:lpstr>
      <vt:lpstr>Matrices</vt:lpstr>
      <vt:lpstr>Notation</vt:lpstr>
      <vt:lpstr>PowerPoint Presentation</vt:lpstr>
      <vt:lpstr>PowerPoint Presentation</vt:lpstr>
      <vt:lpstr>Matrix Addition</vt:lpstr>
      <vt:lpstr>Scalar Multiplication</vt:lpstr>
      <vt:lpstr>PowerPoint Presentation</vt:lpstr>
      <vt:lpstr>Matrix Multiplication</vt:lpstr>
      <vt:lpstr>PowerPoint Presentation</vt:lpstr>
      <vt:lpstr>PowerPoint Presentation</vt:lpstr>
      <vt:lpstr>Representing a system of linear equations by matrix multiplication</vt:lpstr>
      <vt:lpstr>PowerPoint Presentation</vt:lpstr>
      <vt:lpstr>Partitioned Matrices</vt:lpstr>
      <vt:lpstr>PowerPoint Presentation</vt:lpstr>
      <vt:lpstr>PowerPoint Presentation</vt:lpstr>
      <vt:lpstr>Properties of Matrix Operations</vt:lpstr>
      <vt:lpstr>PowerPoint Presentation</vt:lpstr>
      <vt:lpstr>PowerPoint Presentation</vt:lpstr>
      <vt:lpstr>Identity Matrix</vt:lpstr>
      <vt:lpstr>PowerPoint Presentation</vt:lpstr>
      <vt:lpstr>PowerPoint Presentation</vt:lpstr>
      <vt:lpstr>PowerPoint Presentation</vt:lpstr>
      <vt:lpstr>The Transpose of a Matrix</vt:lpstr>
      <vt:lpstr>PowerPoint Presentation</vt:lpstr>
      <vt:lpstr>PowerPoint Presentation</vt:lpstr>
      <vt:lpstr>PowerPoint Presentation</vt:lpstr>
      <vt:lpstr>PowerPoint Presentation</vt:lpstr>
      <vt:lpstr>The Inverse of a Matrix</vt:lpstr>
      <vt:lpstr>PowerPoint Presentation</vt:lpstr>
      <vt:lpstr>Finding the Inverse of a Matrix</vt:lpstr>
      <vt:lpstr>PowerPoint Presentation</vt:lpstr>
      <vt:lpstr>PowerPoint Presentation</vt:lpstr>
      <vt:lpstr>PowerPoint Presentation</vt:lpstr>
      <vt:lpstr>Inverse for 2 x 2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Elementary Matrices</vt:lpstr>
      <vt:lpstr>Elementary Matrices and Elementary Row Operations</vt:lpstr>
      <vt:lpstr>PowerPoint Presentation</vt:lpstr>
      <vt:lpstr>PowerPoint Presentation</vt:lpstr>
      <vt:lpstr>PowerPoint Presentation</vt:lpstr>
      <vt:lpstr>Writing a Matrix as the Product of Elementary Matrices</vt:lpstr>
      <vt:lpstr>PowerPoint Presentation</vt:lpstr>
      <vt:lpstr>The LU-Factorization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THEOREMS OF VECTOR ANALYSIS</dc:title>
  <dc:creator>Min Wang</dc:creator>
  <cp:lastModifiedBy>Min Wang</cp:lastModifiedBy>
  <cp:revision>37</cp:revision>
  <dcterms:created xsi:type="dcterms:W3CDTF">2018-06-05T01:47:43Z</dcterms:created>
  <dcterms:modified xsi:type="dcterms:W3CDTF">2020-08-17T18:36:30Z</dcterms:modified>
</cp:coreProperties>
</file>